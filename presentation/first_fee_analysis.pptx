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5"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mian Adamski" userId="d707881917018490" providerId="LiveId" clId="{7F9F7C62-5B76-4D84-8DD1-BD5088D542EB}"/>
    <pc:docChg chg="undo custSel modSld">
      <pc:chgData name="Damian Adamski" userId="d707881917018490" providerId="LiveId" clId="{7F9F7C62-5B76-4D84-8DD1-BD5088D542EB}" dt="2026-10-09T08:30:47.603" v="389" actId="6549"/>
      <pc:docMkLst>
        <pc:docMk/>
      </pc:docMkLst>
      <pc:sldChg chg="modSp mod">
        <pc:chgData name="Damian Adamski" userId="d707881917018490" providerId="LiveId" clId="{7F9F7C62-5B76-4D84-8DD1-BD5088D542EB}" dt="2026-10-09T08:28:40.894" v="356" actId="20577"/>
        <pc:sldMkLst>
          <pc:docMk/>
          <pc:sldMk cId="0" sldId="256"/>
        </pc:sldMkLst>
        <pc:spChg chg="mod">
          <ac:chgData name="Damian Adamski" userId="d707881917018490" providerId="LiveId" clId="{7F9F7C62-5B76-4D84-8DD1-BD5088D542EB}" dt="2026-10-08T16:51:15.550" v="30" actId="20577"/>
          <ac:spMkLst>
            <pc:docMk/>
            <pc:sldMk cId="0" sldId="256"/>
            <ac:spMk id="2" creationId="{00000000-0000-0000-0000-000000000000}"/>
          </ac:spMkLst>
        </pc:spChg>
        <pc:spChg chg="mod">
          <ac:chgData name="Damian Adamski" userId="d707881917018490" providerId="LiveId" clId="{7F9F7C62-5B76-4D84-8DD1-BD5088D542EB}" dt="2026-10-09T08:28:40.894" v="356" actId="20577"/>
          <ac:spMkLst>
            <pc:docMk/>
            <pc:sldMk cId="0" sldId="256"/>
            <ac:spMk id="5" creationId="{00000000-0000-0000-0000-000000000000}"/>
          </ac:spMkLst>
        </pc:spChg>
      </pc:sldChg>
      <pc:sldChg chg="modSp mod">
        <pc:chgData name="Damian Adamski" userId="d707881917018490" providerId="LiveId" clId="{7F9F7C62-5B76-4D84-8DD1-BD5088D542EB}" dt="2026-10-09T08:26:57.705" v="329" actId="14100"/>
        <pc:sldMkLst>
          <pc:docMk/>
          <pc:sldMk cId="0" sldId="257"/>
        </pc:sldMkLst>
        <pc:spChg chg="mod">
          <ac:chgData name="Damian Adamski" userId="d707881917018490" providerId="LiveId" clId="{7F9F7C62-5B76-4D84-8DD1-BD5088D542EB}" dt="2026-10-09T08:26:57.705" v="329" actId="14100"/>
          <ac:spMkLst>
            <pc:docMk/>
            <pc:sldMk cId="0" sldId="257"/>
            <ac:spMk id="6" creationId="{00000000-0000-0000-0000-000000000000}"/>
          </ac:spMkLst>
        </pc:spChg>
        <pc:spChg chg="mod">
          <ac:chgData name="Damian Adamski" userId="d707881917018490" providerId="LiveId" clId="{7F9F7C62-5B76-4D84-8DD1-BD5088D542EB}" dt="2026-10-08T16:59:39.361" v="194" actId="1035"/>
          <ac:spMkLst>
            <pc:docMk/>
            <pc:sldMk cId="0" sldId="257"/>
            <ac:spMk id="15" creationId="{00000000-0000-0000-0000-000000000000}"/>
          </ac:spMkLst>
        </pc:spChg>
      </pc:sldChg>
      <pc:sldChg chg="addSp delSp modSp mod">
        <pc:chgData name="Damian Adamski" userId="d707881917018490" providerId="LiveId" clId="{7F9F7C62-5B76-4D84-8DD1-BD5088D542EB}" dt="2026-10-09T08:17:48.102" v="321" actId="1035"/>
        <pc:sldMkLst>
          <pc:docMk/>
          <pc:sldMk cId="0" sldId="260"/>
        </pc:sldMkLst>
        <pc:spChg chg="mod">
          <ac:chgData name="Damian Adamski" userId="d707881917018490" providerId="LiveId" clId="{7F9F7C62-5B76-4D84-8DD1-BD5088D542EB}" dt="2026-10-08T17:00:08.281" v="201" actId="20577"/>
          <ac:spMkLst>
            <pc:docMk/>
            <pc:sldMk cId="0" sldId="260"/>
            <ac:spMk id="2" creationId="{00000000-0000-0000-0000-000000000000}"/>
          </ac:spMkLst>
        </pc:spChg>
        <pc:spChg chg="mod">
          <ac:chgData name="Damian Adamski" userId="d707881917018490" providerId="LiveId" clId="{7F9F7C62-5B76-4D84-8DD1-BD5088D542EB}" dt="2026-10-08T16:57:12.488" v="98" actId="1076"/>
          <ac:spMkLst>
            <pc:docMk/>
            <pc:sldMk cId="0" sldId="260"/>
            <ac:spMk id="7" creationId="{00000000-0000-0000-0000-000000000000}"/>
          </ac:spMkLst>
        </pc:spChg>
        <pc:spChg chg="mod">
          <ac:chgData name="Damian Adamski" userId="d707881917018490" providerId="LiveId" clId="{7F9F7C62-5B76-4D84-8DD1-BD5088D542EB}" dt="2026-10-08T16:53:38.450" v="48" actId="14100"/>
          <ac:spMkLst>
            <pc:docMk/>
            <pc:sldMk cId="0" sldId="260"/>
            <ac:spMk id="8" creationId="{00000000-0000-0000-0000-000000000000}"/>
          </ac:spMkLst>
        </pc:spChg>
        <pc:spChg chg="mod">
          <ac:chgData name="Damian Adamski" userId="d707881917018490" providerId="LiveId" clId="{7F9F7C62-5B76-4D84-8DD1-BD5088D542EB}" dt="2026-10-08T16:53:38.450" v="48" actId="14100"/>
          <ac:spMkLst>
            <pc:docMk/>
            <pc:sldMk cId="0" sldId="260"/>
            <ac:spMk id="9" creationId="{00000000-0000-0000-0000-000000000000}"/>
          </ac:spMkLst>
        </pc:spChg>
        <pc:spChg chg="mod">
          <ac:chgData name="Damian Adamski" userId="d707881917018490" providerId="LiveId" clId="{7F9F7C62-5B76-4D84-8DD1-BD5088D542EB}" dt="2026-10-08T16:53:38.450" v="48" actId="14100"/>
          <ac:spMkLst>
            <pc:docMk/>
            <pc:sldMk cId="0" sldId="260"/>
            <ac:spMk id="10" creationId="{00000000-0000-0000-0000-000000000000}"/>
          </ac:spMkLst>
        </pc:spChg>
        <pc:spChg chg="mod">
          <ac:chgData name="Damian Adamski" userId="d707881917018490" providerId="LiveId" clId="{7F9F7C62-5B76-4D84-8DD1-BD5088D542EB}" dt="2026-10-08T16:53:08.084" v="42" actId="14100"/>
          <ac:spMkLst>
            <pc:docMk/>
            <pc:sldMk cId="0" sldId="260"/>
            <ac:spMk id="11" creationId="{00000000-0000-0000-0000-000000000000}"/>
          </ac:spMkLst>
        </pc:spChg>
        <pc:spChg chg="mod">
          <ac:chgData name="Damian Adamski" userId="d707881917018490" providerId="LiveId" clId="{7F9F7C62-5B76-4D84-8DD1-BD5088D542EB}" dt="2026-10-08T16:56:12.788" v="68" actId="27636"/>
          <ac:spMkLst>
            <pc:docMk/>
            <pc:sldMk cId="0" sldId="260"/>
            <ac:spMk id="12" creationId="{00000000-0000-0000-0000-000000000000}"/>
          </ac:spMkLst>
        </pc:spChg>
        <pc:spChg chg="mod">
          <ac:chgData name="Damian Adamski" userId="d707881917018490" providerId="LiveId" clId="{7F9F7C62-5B76-4D84-8DD1-BD5088D542EB}" dt="2026-10-08T16:56:33.146" v="96" actId="1037"/>
          <ac:spMkLst>
            <pc:docMk/>
            <pc:sldMk cId="0" sldId="260"/>
            <ac:spMk id="13" creationId="{00000000-0000-0000-0000-000000000000}"/>
          </ac:spMkLst>
        </pc:spChg>
        <pc:spChg chg="mod">
          <ac:chgData name="Damian Adamski" userId="d707881917018490" providerId="LiveId" clId="{7F9F7C62-5B76-4D84-8DD1-BD5088D542EB}" dt="2026-10-08T16:53:29.928" v="47" actId="14100"/>
          <ac:spMkLst>
            <pc:docMk/>
            <pc:sldMk cId="0" sldId="260"/>
            <ac:spMk id="15" creationId="{00000000-0000-0000-0000-000000000000}"/>
          </ac:spMkLst>
        </pc:spChg>
        <pc:spChg chg="mod">
          <ac:chgData name="Damian Adamski" userId="d707881917018490" providerId="LiveId" clId="{7F9F7C62-5B76-4D84-8DD1-BD5088D542EB}" dt="2026-10-08T16:53:29.928" v="47" actId="14100"/>
          <ac:spMkLst>
            <pc:docMk/>
            <pc:sldMk cId="0" sldId="260"/>
            <ac:spMk id="16" creationId="{00000000-0000-0000-0000-000000000000}"/>
          </ac:spMkLst>
        </pc:spChg>
        <pc:spChg chg="mod">
          <ac:chgData name="Damian Adamski" userId="d707881917018490" providerId="LiveId" clId="{7F9F7C62-5B76-4D84-8DD1-BD5088D542EB}" dt="2026-10-08T16:53:29.928" v="47" actId="14100"/>
          <ac:spMkLst>
            <pc:docMk/>
            <pc:sldMk cId="0" sldId="260"/>
            <ac:spMk id="17" creationId="{00000000-0000-0000-0000-000000000000}"/>
          </ac:spMkLst>
        </pc:spChg>
        <pc:spChg chg="mod">
          <ac:chgData name="Damian Adamski" userId="d707881917018490" providerId="LiveId" clId="{7F9F7C62-5B76-4D84-8DD1-BD5088D542EB}" dt="2026-10-08T16:53:23.542" v="45" actId="14100"/>
          <ac:spMkLst>
            <pc:docMk/>
            <pc:sldMk cId="0" sldId="260"/>
            <ac:spMk id="18" creationId="{00000000-0000-0000-0000-000000000000}"/>
          </ac:spMkLst>
        </pc:spChg>
        <pc:spChg chg="mod">
          <ac:chgData name="Damian Adamski" userId="d707881917018490" providerId="LiveId" clId="{7F9F7C62-5B76-4D84-8DD1-BD5088D542EB}" dt="2026-10-08T16:56:15.085" v="69" actId="20577"/>
          <ac:spMkLst>
            <pc:docMk/>
            <pc:sldMk cId="0" sldId="260"/>
            <ac:spMk id="19" creationId="{00000000-0000-0000-0000-000000000000}"/>
          </ac:spMkLst>
        </pc:spChg>
        <pc:spChg chg="mod">
          <ac:chgData name="Damian Adamski" userId="d707881917018490" providerId="LiveId" clId="{7F9F7C62-5B76-4D84-8DD1-BD5088D542EB}" dt="2026-10-08T16:56:29.512" v="85" actId="1036"/>
          <ac:spMkLst>
            <pc:docMk/>
            <pc:sldMk cId="0" sldId="260"/>
            <ac:spMk id="20" creationId="{00000000-0000-0000-0000-000000000000}"/>
          </ac:spMkLst>
        </pc:spChg>
        <pc:spChg chg="del mod">
          <ac:chgData name="Damian Adamski" userId="d707881917018490" providerId="LiveId" clId="{7F9F7C62-5B76-4D84-8DD1-BD5088D542EB}" dt="2026-10-08T16:55:42.694" v="60" actId="478"/>
          <ac:spMkLst>
            <pc:docMk/>
            <pc:sldMk cId="0" sldId="260"/>
            <ac:spMk id="23" creationId="{00000000-0000-0000-0000-000000000000}"/>
          </ac:spMkLst>
        </pc:spChg>
        <pc:spChg chg="del">
          <ac:chgData name="Damian Adamski" userId="d707881917018490" providerId="LiveId" clId="{7F9F7C62-5B76-4D84-8DD1-BD5088D542EB}" dt="2026-10-08T16:55:45.979" v="61" actId="478"/>
          <ac:spMkLst>
            <pc:docMk/>
            <pc:sldMk cId="0" sldId="260"/>
            <ac:spMk id="24" creationId="{00000000-0000-0000-0000-000000000000}"/>
          </ac:spMkLst>
        </pc:spChg>
        <pc:spChg chg="mod">
          <ac:chgData name="Damian Adamski" userId="d707881917018490" providerId="LiveId" clId="{7F9F7C62-5B76-4D84-8DD1-BD5088D542EB}" dt="2026-10-09T08:16:33.554" v="292" actId="20577"/>
          <ac:spMkLst>
            <pc:docMk/>
            <pc:sldMk cId="0" sldId="260"/>
            <ac:spMk id="25" creationId="{00000000-0000-0000-0000-000000000000}"/>
          </ac:spMkLst>
        </pc:spChg>
        <pc:spChg chg="add mod">
          <ac:chgData name="Damian Adamski" userId="d707881917018490" providerId="LiveId" clId="{7F9F7C62-5B76-4D84-8DD1-BD5088D542EB}" dt="2026-10-09T08:17:48.102" v="321" actId="1035"/>
          <ac:spMkLst>
            <pc:docMk/>
            <pc:sldMk cId="0" sldId="260"/>
            <ac:spMk id="28" creationId="{B42E1B98-7289-D27A-C8A0-C21CD9EDFD28}"/>
          </ac:spMkLst>
        </pc:spChg>
        <pc:picChg chg="add mod">
          <ac:chgData name="Damian Adamski" userId="d707881917018490" providerId="LiveId" clId="{7F9F7C62-5B76-4D84-8DD1-BD5088D542EB}" dt="2026-10-08T16:55:55.731" v="64" actId="1076"/>
          <ac:picMkLst>
            <pc:docMk/>
            <pc:sldMk cId="0" sldId="260"/>
            <ac:picMk id="27" creationId="{A0D11157-F3FC-A5C7-56E7-2F192D114EF4}"/>
          </ac:picMkLst>
        </pc:picChg>
        <pc:picChg chg="del mod">
          <ac:chgData name="Damian Adamski" userId="d707881917018490" providerId="LiveId" clId="{7F9F7C62-5B76-4D84-8DD1-BD5088D542EB}" dt="2026-10-08T16:55:36.351" v="55" actId="478"/>
          <ac:picMkLst>
            <pc:docMk/>
            <pc:sldMk cId="0" sldId="260"/>
            <ac:picMk id="29" creationId="{39F9733A-C5CD-EFB9-236D-875786A08327}"/>
          </ac:picMkLst>
        </pc:picChg>
      </pc:sldChg>
      <pc:sldChg chg="modSp mod">
        <pc:chgData name="Damian Adamski" userId="d707881917018490" providerId="LiveId" clId="{7F9F7C62-5B76-4D84-8DD1-BD5088D542EB}" dt="2026-10-09T08:30:47.603" v="389" actId="6549"/>
        <pc:sldMkLst>
          <pc:docMk/>
          <pc:sldMk cId="0" sldId="261"/>
        </pc:sldMkLst>
        <pc:spChg chg="mod">
          <ac:chgData name="Damian Adamski" userId="d707881917018490" providerId="LiveId" clId="{7F9F7C62-5B76-4D84-8DD1-BD5088D542EB}" dt="2026-10-08T17:00:16" v="202" actId="20577"/>
          <ac:spMkLst>
            <pc:docMk/>
            <pc:sldMk cId="0" sldId="261"/>
            <ac:spMk id="2" creationId="{00000000-0000-0000-0000-000000000000}"/>
          </ac:spMkLst>
        </pc:spChg>
        <pc:spChg chg="mod">
          <ac:chgData name="Damian Adamski" userId="d707881917018490" providerId="LiveId" clId="{7F9F7C62-5B76-4D84-8DD1-BD5088D542EB}" dt="2026-10-09T08:30:23.125" v="366" actId="20577"/>
          <ac:spMkLst>
            <pc:docMk/>
            <pc:sldMk cId="0" sldId="261"/>
            <ac:spMk id="16" creationId="{00000000-0000-0000-0000-000000000000}"/>
          </ac:spMkLst>
        </pc:spChg>
        <pc:spChg chg="mod">
          <ac:chgData name="Damian Adamski" userId="d707881917018490" providerId="LiveId" clId="{7F9F7C62-5B76-4D84-8DD1-BD5088D542EB}" dt="2026-10-09T08:30:47.603" v="389" actId="6549"/>
          <ac:spMkLst>
            <pc:docMk/>
            <pc:sldMk cId="0" sldId="261"/>
            <ac:spMk id="28" creationId="{6292300B-E8E5-37EA-A916-419FEC23775C}"/>
          </ac:spMkLst>
        </pc:spChg>
      </pc:sldChg>
      <pc:sldChg chg="modSp mod">
        <pc:chgData name="Damian Adamski" userId="d707881917018490" providerId="LiveId" clId="{7F9F7C62-5B76-4D84-8DD1-BD5088D542EB}" dt="2026-10-09T08:28:04.649" v="355" actId="20577"/>
        <pc:sldMkLst>
          <pc:docMk/>
          <pc:sldMk cId="0" sldId="262"/>
        </pc:sldMkLst>
        <pc:spChg chg="mod">
          <ac:chgData name="Damian Adamski" userId="d707881917018490" providerId="LiveId" clId="{7F9F7C62-5B76-4D84-8DD1-BD5088D542EB}" dt="2026-10-08T17:00:27.767" v="203" actId="20577"/>
          <ac:spMkLst>
            <pc:docMk/>
            <pc:sldMk cId="0" sldId="262"/>
            <ac:spMk id="2" creationId="{00000000-0000-0000-0000-000000000000}"/>
          </ac:spMkLst>
        </pc:spChg>
        <pc:spChg chg="mod">
          <ac:chgData name="Damian Adamski" userId="d707881917018490" providerId="LiveId" clId="{7F9F7C62-5B76-4D84-8DD1-BD5088D542EB}" dt="2026-10-08T16:58:47.550" v="126" actId="1035"/>
          <ac:spMkLst>
            <pc:docMk/>
            <pc:sldMk cId="0" sldId="262"/>
            <ac:spMk id="8" creationId="{00000000-0000-0000-0000-000000000000}"/>
          </ac:spMkLst>
        </pc:spChg>
        <pc:spChg chg="mod">
          <ac:chgData name="Damian Adamski" userId="d707881917018490" providerId="LiveId" clId="{7F9F7C62-5B76-4D84-8DD1-BD5088D542EB}" dt="2026-10-08T16:59:00.614" v="162" actId="1036"/>
          <ac:spMkLst>
            <pc:docMk/>
            <pc:sldMk cId="0" sldId="262"/>
            <ac:spMk id="9" creationId="{00000000-0000-0000-0000-000000000000}"/>
          </ac:spMkLst>
        </pc:spChg>
        <pc:spChg chg="mod">
          <ac:chgData name="Damian Adamski" userId="d707881917018490" providerId="LiveId" clId="{7F9F7C62-5B76-4D84-8DD1-BD5088D542EB}" dt="2026-10-08T16:59:00.614" v="162" actId="1036"/>
          <ac:spMkLst>
            <pc:docMk/>
            <pc:sldMk cId="0" sldId="262"/>
            <ac:spMk id="10" creationId="{00000000-0000-0000-0000-000000000000}"/>
          </ac:spMkLst>
        </pc:spChg>
        <pc:spChg chg="mod">
          <ac:chgData name="Damian Adamski" userId="d707881917018490" providerId="LiveId" clId="{7F9F7C62-5B76-4D84-8DD1-BD5088D542EB}" dt="2026-10-09T08:28:00.389" v="353" actId="20577"/>
          <ac:spMkLst>
            <pc:docMk/>
            <pc:sldMk cId="0" sldId="262"/>
            <ac:spMk id="13" creationId="{00000000-0000-0000-0000-000000000000}"/>
          </ac:spMkLst>
        </pc:spChg>
        <pc:spChg chg="mod">
          <ac:chgData name="Damian Adamski" userId="d707881917018490" providerId="LiveId" clId="{7F9F7C62-5B76-4D84-8DD1-BD5088D542EB}" dt="2026-10-09T08:28:04.649" v="355" actId="20577"/>
          <ac:spMkLst>
            <pc:docMk/>
            <pc:sldMk cId="0" sldId="262"/>
            <ac:spMk id="20" creationId="{00000000-0000-0000-0000-000000000000}"/>
          </ac:spMkLst>
        </pc:spChg>
        <pc:spChg chg="mod">
          <ac:chgData name="Damian Adamski" userId="d707881917018490" providerId="LiveId" clId="{7F9F7C62-5B76-4D84-8DD1-BD5088D542EB}" dt="2026-10-08T16:51:54.926" v="31" actId="6549"/>
          <ac:spMkLst>
            <pc:docMk/>
            <pc:sldMk cId="0" sldId="262"/>
            <ac:spMk id="25" creationId="{00000000-0000-0000-0000-000000000000}"/>
          </ac:spMkLst>
        </pc:spChg>
      </pc:sldChg>
      <pc:sldChg chg="addSp delSp modSp mod">
        <pc:chgData name="Damian Adamski" userId="d707881917018490" providerId="LiveId" clId="{7F9F7C62-5B76-4D84-8DD1-BD5088D542EB}" dt="2026-10-09T08:29:36.403" v="359" actId="1076"/>
        <pc:sldMkLst>
          <pc:docMk/>
          <pc:sldMk cId="0" sldId="265"/>
        </pc:sldMkLst>
        <pc:spChg chg="mod">
          <ac:chgData name="Damian Adamski" userId="d707881917018490" providerId="LiveId" clId="{7F9F7C62-5B76-4D84-8DD1-BD5088D542EB}" dt="2026-10-08T16:59:59.005" v="200" actId="20577"/>
          <ac:spMkLst>
            <pc:docMk/>
            <pc:sldMk cId="0" sldId="265"/>
            <ac:spMk id="2" creationId="{00000000-0000-0000-0000-000000000000}"/>
          </ac:spMkLst>
        </pc:spChg>
        <pc:spChg chg="mod">
          <ac:chgData name="Damian Adamski" userId="d707881917018490" providerId="LiveId" clId="{7F9F7C62-5B76-4D84-8DD1-BD5088D542EB}" dt="2026-10-08T16:49:17.483" v="0" actId="20577"/>
          <ac:spMkLst>
            <pc:docMk/>
            <pc:sldMk cId="0" sldId="265"/>
            <ac:spMk id="3" creationId="{00000000-0000-0000-0000-000000000000}"/>
          </ac:spMkLst>
        </pc:spChg>
        <pc:spChg chg="del">
          <ac:chgData name="Damian Adamski" userId="d707881917018490" providerId="LiveId" clId="{7F9F7C62-5B76-4D84-8DD1-BD5088D542EB}" dt="2026-10-09T08:29:30.291" v="358" actId="478"/>
          <ac:spMkLst>
            <pc:docMk/>
            <pc:sldMk cId="0" sldId="265"/>
            <ac:spMk id="5" creationId="{00000000-0000-0000-0000-000000000000}"/>
          </ac:spMkLst>
        </pc:spChg>
        <pc:spChg chg="del">
          <ac:chgData name="Damian Adamski" userId="d707881917018490" providerId="LiveId" clId="{7F9F7C62-5B76-4D84-8DD1-BD5088D542EB}" dt="2026-10-09T08:29:30.291" v="358" actId="478"/>
          <ac:spMkLst>
            <pc:docMk/>
            <pc:sldMk cId="0" sldId="265"/>
            <ac:spMk id="6" creationId="{00000000-0000-0000-0000-000000000000}"/>
          </ac:spMkLst>
        </pc:spChg>
        <pc:spChg chg="mod">
          <ac:chgData name="Damian Adamski" userId="d707881917018490" providerId="LiveId" clId="{7F9F7C62-5B76-4D84-8DD1-BD5088D542EB}" dt="2026-10-09T08:15:51.714" v="263" actId="20577"/>
          <ac:spMkLst>
            <pc:docMk/>
            <pc:sldMk cId="0" sldId="265"/>
            <ac:spMk id="7" creationId="{00000000-0000-0000-0000-000000000000}"/>
          </ac:spMkLst>
        </pc:spChg>
        <pc:spChg chg="add mod">
          <ac:chgData name="Damian Adamski" userId="d707881917018490" providerId="LiveId" clId="{7F9F7C62-5B76-4D84-8DD1-BD5088D542EB}" dt="2026-10-09T08:14:01.806" v="256" actId="1076"/>
          <ac:spMkLst>
            <pc:docMk/>
            <pc:sldMk cId="0" sldId="265"/>
            <ac:spMk id="14" creationId="{0847AA04-0CBB-E68E-EF8F-45FA067B309A}"/>
          </ac:spMkLst>
        </pc:spChg>
        <pc:picChg chg="mod">
          <ac:chgData name="Damian Adamski" userId="d707881917018490" providerId="LiveId" clId="{7F9F7C62-5B76-4D84-8DD1-BD5088D542EB}" dt="2026-10-09T08:29:36.403" v="359" actId="1076"/>
          <ac:picMkLst>
            <pc:docMk/>
            <pc:sldMk cId="0" sldId="265"/>
            <ac:picMk id="9" creationId="{A549B049-46A4-8A87-B571-685CEA53E80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0903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The Product team asked which early behaviours predict whether a customer pays their first monthly fee. I'll give the answer first, then the evidence, then three recommendations and how to measure them. About 18 minutes, then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slide, this is it. Q1: allowance and family login are the strongest behaviours, and a declined card payment is the main warning sign. Q2: where a customer comes from and which platform they use matter; the plan they choose does not. Q3: three changes, each tested properly before rollout. pp means percentage points: the straight difference between two percentages.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looking at behaviours, the funnel. 85% activate their card; of those, 65% pay. Nobody who failed to activate paid, so activation is a gate. That's why I analyse behaviours on activated customers only; otherwise every behaviour looks predictive just because it means the card was activated. It also means activation alone accounts for a third of all non-payers. On data quality: I ran 22 checks; everything passed except 4 rows where a family login was recorded without a parent login. I kept and flagged them; removing them changes nothing.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answer to question 1. Each bar shows how much more or less likely a customer is to pay when they do this behaviour, comparing customers who are otherwise alike. Setting up an allowance is linked to a 25 point higher chance of paying; parent and child logging in together, 20 points. A declined card payment is linked to 12 points lower. Two things don't matter: custom cards and notifications are grey because the difference could be chance. So turning on notifications is not a lever. If asked how: logistic regression with average marginal effects; the raw gaps tell the same story (allowance +27pp before adjusting).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views of the same idea: habits build on each other. Left: families with both an allowance and a family login pay 94% of the time; with neither, 49%. That's the gap onboarding should close. Right: the more days a parent logs in during the first month, the more likely they pay, rising steadily from 50% to 77%. The 0-day group is only 46 people, so I don't read much into it. If asked about the interaction: the test was borderline (p = 0.05), so I describe the effects as adding 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a customer comes from matters: referral customers pay 77% of the time, TikTok customers 54%. Platform matters too: Web users trail iOS by 8 points. The important check is that these gaps are not just because these groups behave differently: customers from every channel set up allowances at about the same rate, and the regression shows the gaps remain after accounting for behaviour. So this is about who the customers are, likely intent, not what they do in the app. Plan tier makes no difference, which tells us non-payment is not about price tier. If asked: activation rates are about the same in every segment, so the gaps are in paying, not activating.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recommendations, each tied to a finding. One: activation, the biggest lever because a third of non-payers never activate. Two: build the two strongest habits, allowance and family login, into onboarding. Three: when a child's card is declined, alert the parent with the reason and a one-tap top-up; a decline is the clearest warning sign. The impact numbers are deliberately cautious: I assume only part of each link is causal, because engaged parents tend to do everything. That's exactly why each one should be tested before rollout, which is the next slide. Also worth sharing with Marketing: channel quality, Referral vs TikTok.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we'd know it worked. The primary metric is the share of ALL signups who pay their first fee, not just activated customers, so that a change which affects activation is still counted. Leading signals tell us early whether the change is doing what we expect. Guardrails make sure we're not just moving the problem, for example people paying month one but cancelling in month two. Sample size: to detect a 3 point uplift we need about 4,300 customers per group. Caveats: these are associations, which is why we test; I've asked about fee timing and why fees fail. Next step: an early-warning score at day 7 so we can target the nudges at the customers most at risk.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08930"/>
          </a:xfrm>
          <a:prstGeom prst="rect">
            <a:avLst/>
          </a:prstGeom>
          <a:noFill/>
          <a:ln/>
        </p:spPr>
        <p:txBody>
          <a:bodyPr wrap="square" lIns="0" tIns="0" rIns="0" bIns="0" rtlCol="0" anchor="t"/>
          <a:lstStyle>
            <a:lvl1pPr marL="0" indent="0" algn="l">
              <a:lnSpc>
                <a:spcPct val="115000"/>
              </a:lnSpc>
              <a:buNone/>
              <a:defRPr lang="en-US" sz="2800" dirty="0">
                <a:solidFill>
                  <a:srgbClr val="16233A"/>
                </a:solidFill>
                <a:latin typeface="Domine" pitchFamily="34" charset="0"/>
                <a:ea typeface="Domine" pitchFamily="34" charset="-122"/>
                <a:cs typeface="Domine"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16050"/>
            <a:ext cx="10566400" cy="4229150"/>
          </a:xfrm>
          <a:prstGeom prst="rect">
            <a:avLst/>
          </a:prstGeom>
          <a:noFill/>
          <a:ln/>
        </p:spPr>
        <p:txBody>
          <a:bodyPr wrap="square" lIns="0" tIns="0" rIns="0" bIns="0" rtlCol="0" anchor="t"/>
          <a:lstStyle>
            <a:lvl1pPr marL="0" indent="0" algn="l">
              <a:lnSpc>
                <a:spcPct val="140000"/>
              </a:lnSpc>
              <a:buNone/>
              <a:defRPr lang="en-US" sz="1600" dirty="0">
                <a:solidFill>
                  <a:srgbClr val="16233A"/>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08930"/>
          </a:xfrm>
          <a:prstGeom prst="rect">
            <a:avLst/>
          </a:prstGeom>
          <a:noFill/>
          <a:ln/>
        </p:spPr>
        <p:txBody>
          <a:bodyPr wrap="square" lIns="0" tIns="0" rIns="0" bIns="0" rtlCol="0" anchor="t"/>
          <a:lstStyle>
            <a:lvl1pPr marL="0" indent="0" algn="l">
              <a:lnSpc>
                <a:spcPct val="115000"/>
              </a:lnSpc>
              <a:buNone/>
              <a:defRPr lang="en-US" sz="2800" dirty="0">
                <a:solidFill>
                  <a:srgbClr val="16233A"/>
                </a:solidFill>
                <a:latin typeface="Domine" pitchFamily="34" charset="0"/>
                <a:ea typeface="Domine" pitchFamily="34" charset="-122"/>
                <a:cs typeface="Domine"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16050"/>
            <a:ext cx="10566400" cy="4229150"/>
          </a:xfrm>
          <a:prstGeom prst="rect">
            <a:avLst/>
          </a:prstGeom>
          <a:noFill/>
          <a:ln/>
        </p:spPr>
        <p:txBody>
          <a:bodyPr wrap="square" lIns="0" tIns="0" rIns="0" bIns="0" rtlCol="0" anchor="t"/>
          <a:lstStyle>
            <a:lvl1pPr marL="0" indent="0" algn="l">
              <a:lnSpc>
                <a:spcPct val="140000"/>
              </a:lnSpc>
              <a:buNone/>
              <a:defRPr lang="en-US" sz="1600" dirty="0">
                <a:solidFill>
                  <a:srgbClr val="16233A"/>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3E0"/>
                </a:solidFill>
                <a:latin typeface="DM Sans" pitchFamily="34" charset="0"/>
                <a:ea typeface="DM Sans" pitchFamily="34" charset="-122"/>
                <a:cs typeface="DM Sans" pitchFamily="34" charset="-120"/>
              </a:rPr>
              <a:t>DATA ANALYST TAKE-HOME · 09/10/2026</a:t>
            </a:r>
            <a:endParaRPr lang="en-US" sz="1200" dirty="0"/>
          </a:p>
        </p:txBody>
      </p:sp>
      <p:sp>
        <p:nvSpPr>
          <p:cNvPr id="3" name="Text 1"/>
          <p:cNvSpPr>
            <a:spLocks noGrp="1"/>
          </p:cNvSpPr>
          <p:nvPr>
            <p:ph type="title"/>
          </p:nvPr>
        </p:nvSpPr>
        <p:spPr>
          <a:xfrm>
            <a:off x="812800" y="2534940"/>
            <a:ext cx="10883392" cy="125472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6F4EF"/>
                </a:solidFill>
                <a:latin typeface="Domine" pitchFamily="18" charset="0"/>
                <a:ea typeface="Domine" pitchFamily="18" charset="-122"/>
                <a:cs typeface="Domine" pitchFamily="18" charset="-120"/>
              </a:rPr>
              <a:t>What predicts a customer paying their first monthly fee?</a:t>
            </a:r>
            <a:endParaRPr lang="en-US" sz="4400" dirty="0"/>
          </a:p>
        </p:txBody>
      </p:sp>
      <p:sp>
        <p:nvSpPr>
          <p:cNvPr id="4" name="Text 2"/>
          <p:cNvSpPr/>
          <p:nvPr/>
        </p:nvSpPr>
        <p:spPr>
          <a:xfrm>
            <a:off x="812800" y="3967460"/>
            <a:ext cx="10883392"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3E0"/>
                </a:solidFill>
                <a:latin typeface="DM Sans" pitchFamily="34" charset="0"/>
                <a:ea typeface="DM Sans" pitchFamily="34" charset="-122"/>
                <a:cs typeface="DM Sans" pitchFamily="34" charset="-120"/>
              </a:rPr>
              <a:t>First-30-day behaviour of 5,000 customers who signed up in 2024</a:t>
            </a:r>
            <a:endParaRPr lang="en-US" sz="1800" dirty="0"/>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0"/>
                </a:solidFill>
                <a:latin typeface="DM Sans" pitchFamily="34" charset="0"/>
                <a:ea typeface="DM Sans" pitchFamily="34" charset="-122"/>
                <a:cs typeface="DM Sans" pitchFamily="34" charset="-120"/>
              </a:rPr>
              <a:t>Damian Adamski · For the Head of Product and the Head of Data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DM Sans" pitchFamily="34" charset="0"/>
                <a:ea typeface="DM Sans" pitchFamily="34" charset="-122"/>
                <a:cs typeface="DM Sans" pitchFamily="34" charset="-120"/>
              </a:rPr>
              <a:t>THE ANSWER UP FRONT</a:t>
            </a:r>
            <a:endParaRPr lang="en-US" sz="1200" dirty="0"/>
          </a:p>
        </p:txBody>
      </p:sp>
      <p:sp>
        <p:nvSpPr>
          <p:cNvPr id="3" name="Text 1"/>
          <p:cNvSpPr>
            <a:spLocks noGrp="1"/>
          </p:cNvSpPr>
          <p:nvPr>
            <p:ph type="title"/>
          </p:nvPr>
        </p:nvSpPr>
        <p:spPr>
          <a:xfrm>
            <a:off x="812800" y="1102320"/>
            <a:ext cx="10883392" cy="84326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6233A"/>
                </a:solidFill>
                <a:latin typeface="Domine" pitchFamily="18" charset="0"/>
                <a:ea typeface="Domine" pitchFamily="18" charset="-122"/>
                <a:cs typeface="Domine" pitchFamily="18" charset="-120"/>
              </a:rPr>
              <a:t>Activation, allowance and family login drive first-fee collection</a:t>
            </a:r>
            <a:endParaRPr lang="en-US" sz="2800" dirty="0"/>
          </a:p>
        </p:txBody>
      </p:sp>
      <p:sp>
        <p:nvSpPr>
          <p:cNvPr id="4" name="Shape 2"/>
          <p:cNvSpPr/>
          <p:nvPr/>
        </p:nvSpPr>
        <p:spPr>
          <a:xfrm>
            <a:off x="815975" y="2228155"/>
            <a:ext cx="3380284" cy="2972792"/>
          </a:xfrm>
          <a:prstGeom prst="roundRect">
            <a:avLst>
              <a:gd name="adj" fmla="val 3311"/>
            </a:avLst>
          </a:prstGeom>
          <a:solidFill>
            <a:srgbClr val="FDFCF9"/>
          </a:solidFill>
          <a:ln w="6350">
            <a:solidFill>
              <a:srgbClr val="DDD6C8"/>
            </a:solidFill>
            <a:prstDash val="solid"/>
          </a:ln>
        </p:spPr>
      </p:sp>
      <p:sp>
        <p:nvSpPr>
          <p:cNvPr id="5" name="Text 3"/>
          <p:cNvSpPr/>
          <p:nvPr/>
        </p:nvSpPr>
        <p:spPr>
          <a:xfrm>
            <a:off x="1073150" y="2485330"/>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F6DB5"/>
                </a:solidFill>
                <a:latin typeface="DM Sans" pitchFamily="34" charset="0"/>
                <a:ea typeface="DM Sans" pitchFamily="34" charset="-122"/>
                <a:cs typeface="DM Sans" pitchFamily="34" charset="-120"/>
              </a:rPr>
              <a:t>Q1 · BEHAVIOURS</a:t>
            </a:r>
            <a:endParaRPr lang="en-US" sz="1200" dirty="0"/>
          </a:p>
        </p:txBody>
      </p:sp>
      <p:sp>
        <p:nvSpPr>
          <p:cNvPr id="6" name="Text 4"/>
          <p:cNvSpPr/>
          <p:nvPr/>
        </p:nvSpPr>
        <p:spPr>
          <a:xfrm>
            <a:off x="1073150" y="2800251"/>
            <a:ext cx="3041650"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3A"/>
                </a:solidFill>
                <a:latin typeface="Domine" pitchFamily="18" charset="0"/>
                <a:ea typeface="Domine" pitchFamily="18" charset="-122"/>
                <a:cs typeface="Domine" pitchFamily="18" charset="-120"/>
              </a:rPr>
              <a:t>Allowance and family login</a:t>
            </a:r>
            <a:endParaRPr lang="en-US" sz="1800" dirty="0"/>
          </a:p>
        </p:txBody>
      </p:sp>
      <p:sp>
        <p:nvSpPr>
          <p:cNvPr id="7" name="Text 5"/>
          <p:cNvSpPr/>
          <p:nvPr/>
        </p:nvSpPr>
        <p:spPr>
          <a:xfrm>
            <a:off x="1073150" y="3450431"/>
            <a:ext cx="2951912" cy="15187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6"/>
                </a:solidFill>
                <a:latin typeface="DM Sans" pitchFamily="34" charset="0"/>
                <a:ea typeface="DM Sans" pitchFamily="34" charset="-122"/>
                <a:cs typeface="DM Sans" pitchFamily="34" charset="-120"/>
              </a:rPr>
              <a:t>Setting up an allowance (+25pp) and parent and child logging in together (+20pp) are the strongest signals. A declined card payment is the main warning sign (−12pp).</a:t>
            </a:r>
            <a:endParaRPr lang="en-US" sz="1400" dirty="0"/>
          </a:p>
        </p:txBody>
      </p:sp>
      <p:sp>
        <p:nvSpPr>
          <p:cNvPr id="8" name="Shape 6"/>
          <p:cNvSpPr/>
          <p:nvPr/>
        </p:nvSpPr>
        <p:spPr>
          <a:xfrm>
            <a:off x="4405809" y="2228155"/>
            <a:ext cx="3380333" cy="2972792"/>
          </a:xfrm>
          <a:prstGeom prst="roundRect">
            <a:avLst>
              <a:gd name="adj" fmla="val 3311"/>
            </a:avLst>
          </a:prstGeom>
          <a:solidFill>
            <a:srgbClr val="FDFCF9"/>
          </a:solidFill>
          <a:ln w="6350">
            <a:solidFill>
              <a:srgbClr val="DDD6C8"/>
            </a:solidFill>
            <a:prstDash val="solid"/>
          </a:ln>
        </p:spPr>
      </p:sp>
      <p:sp>
        <p:nvSpPr>
          <p:cNvPr id="9" name="Text 7"/>
          <p:cNvSpPr/>
          <p:nvPr/>
        </p:nvSpPr>
        <p:spPr>
          <a:xfrm>
            <a:off x="4662984" y="248533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F6DB5"/>
                </a:solidFill>
                <a:latin typeface="DM Sans" pitchFamily="34" charset="0"/>
                <a:ea typeface="DM Sans" pitchFamily="34" charset="-122"/>
                <a:cs typeface="DM Sans" pitchFamily="34" charset="-120"/>
              </a:rPr>
              <a:t>Q2 · SEGMENTS</a:t>
            </a:r>
            <a:endParaRPr lang="en-US" sz="1200" dirty="0"/>
          </a:p>
        </p:txBody>
      </p:sp>
      <p:sp>
        <p:nvSpPr>
          <p:cNvPr id="10" name="Text 8"/>
          <p:cNvSpPr/>
          <p:nvPr/>
        </p:nvSpPr>
        <p:spPr>
          <a:xfrm>
            <a:off x="4662984" y="2800251"/>
            <a:ext cx="2951963"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3A"/>
                </a:solidFill>
                <a:latin typeface="Domine" pitchFamily="18" charset="0"/>
                <a:ea typeface="Domine" pitchFamily="18" charset="-122"/>
                <a:cs typeface="Domine" pitchFamily="18" charset="-120"/>
              </a:rPr>
              <a:t>Channel and platform, not plan tier</a:t>
            </a:r>
            <a:endParaRPr lang="en-US" sz="1800" dirty="0"/>
          </a:p>
        </p:txBody>
      </p:sp>
      <p:sp>
        <p:nvSpPr>
          <p:cNvPr id="11" name="Text 9"/>
          <p:cNvSpPr/>
          <p:nvPr/>
        </p:nvSpPr>
        <p:spPr>
          <a:xfrm>
            <a:off x="4662984" y="3450431"/>
            <a:ext cx="2951963" cy="126985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6"/>
                </a:solidFill>
                <a:latin typeface="DM Sans" pitchFamily="34" charset="0"/>
                <a:ea typeface="DM Sans" pitchFamily="34" charset="-122"/>
                <a:cs typeface="DM Sans" pitchFamily="34" charset="-120"/>
              </a:rPr>
              <a:t>Referral customers pay most (77%), TikTok least (54%), and Web trails iOS by 8pp. The gaps hold after accounting for behaviour. Plan tier makes no difference.</a:t>
            </a:r>
            <a:endParaRPr lang="en-US" sz="1400" dirty="0"/>
          </a:p>
        </p:txBody>
      </p:sp>
      <p:sp>
        <p:nvSpPr>
          <p:cNvPr id="12" name="Shape 10"/>
          <p:cNvSpPr/>
          <p:nvPr/>
        </p:nvSpPr>
        <p:spPr>
          <a:xfrm>
            <a:off x="7995692" y="2228155"/>
            <a:ext cx="3380333" cy="2972792"/>
          </a:xfrm>
          <a:prstGeom prst="roundRect">
            <a:avLst>
              <a:gd name="adj" fmla="val 3311"/>
            </a:avLst>
          </a:prstGeom>
          <a:solidFill>
            <a:srgbClr val="FDFCF9"/>
          </a:solidFill>
          <a:ln w="6350">
            <a:solidFill>
              <a:srgbClr val="DDD6C8"/>
            </a:solidFill>
            <a:prstDash val="solid"/>
          </a:ln>
        </p:spPr>
      </p:sp>
      <p:sp>
        <p:nvSpPr>
          <p:cNvPr id="13" name="Text 11"/>
          <p:cNvSpPr/>
          <p:nvPr/>
        </p:nvSpPr>
        <p:spPr>
          <a:xfrm>
            <a:off x="8252867" y="248533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F6DB5"/>
                </a:solidFill>
                <a:latin typeface="DM Sans" pitchFamily="34" charset="0"/>
                <a:ea typeface="DM Sans" pitchFamily="34" charset="-122"/>
                <a:cs typeface="DM Sans" pitchFamily="34" charset="-120"/>
              </a:rPr>
              <a:t>Q3 · RECOMMENDATIONS</a:t>
            </a:r>
            <a:endParaRPr lang="en-US" sz="1200" dirty="0"/>
          </a:p>
        </p:txBody>
      </p:sp>
      <p:sp>
        <p:nvSpPr>
          <p:cNvPr id="14" name="Text 12"/>
          <p:cNvSpPr/>
          <p:nvPr/>
        </p:nvSpPr>
        <p:spPr>
          <a:xfrm>
            <a:off x="8252867" y="2800251"/>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3A"/>
                </a:solidFill>
                <a:latin typeface="Domine" pitchFamily="18" charset="0"/>
                <a:ea typeface="Domine" pitchFamily="18" charset="-122"/>
                <a:cs typeface="Domine" pitchFamily="18" charset="-120"/>
              </a:rPr>
              <a:t>Three changes to test</a:t>
            </a:r>
            <a:endParaRPr lang="en-US" sz="1800" dirty="0"/>
          </a:p>
        </p:txBody>
      </p:sp>
      <p:sp>
        <p:nvSpPr>
          <p:cNvPr id="15" name="Text 13"/>
          <p:cNvSpPr/>
          <p:nvPr/>
        </p:nvSpPr>
        <p:spPr>
          <a:xfrm>
            <a:off x="8252867" y="3404742"/>
            <a:ext cx="2951963" cy="126985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6"/>
                </a:solidFill>
                <a:latin typeface="DM Sans" pitchFamily="34" charset="0"/>
                <a:ea typeface="DM Sans" pitchFamily="34" charset="-122"/>
                <a:cs typeface="DM Sans" pitchFamily="34" charset="-120"/>
              </a:rPr>
              <a:t>Activation nudges, allowance and family login built into onboarding, and a top-up prompt after a declined payment, each run as an A/B test.</a:t>
            </a:r>
            <a:endParaRPr lang="en-US" sz="1400" dirty="0"/>
          </a:p>
        </p:txBody>
      </p:sp>
      <p:sp>
        <p:nvSpPr>
          <p:cNvPr id="16" name="Text 14"/>
          <p:cNvSpPr/>
          <p:nvPr/>
        </p:nvSpPr>
        <p:spPr>
          <a:xfrm>
            <a:off x="812800" y="550892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pp = percentage points. Behaviour figures use activated customers (n = 4,236), holding other factors equal.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DM Sans" pitchFamily="34" charset="0"/>
                <a:ea typeface="DM Sans" pitchFamily="34" charset="-122"/>
                <a:cs typeface="DM Sans" pitchFamily="34" charset="-120"/>
              </a:rPr>
              <a:t>THE FUNNEL</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6233A"/>
                </a:solidFill>
                <a:latin typeface="Domine" pitchFamily="18" charset="0"/>
                <a:ea typeface="Domine" pitchFamily="18" charset="-122"/>
                <a:cs typeface="Domine" pitchFamily="18" charset="-120"/>
              </a:rPr>
              <a:t>15% never activate their card, and none of them pay</a:t>
            </a:r>
            <a:endParaRPr lang="en-US" sz="2800" dirty="0"/>
          </a:p>
        </p:txBody>
      </p:sp>
      <p:sp>
        <p:nvSpPr>
          <p:cNvPr id="4" name="Text 2"/>
          <p:cNvSpPr/>
          <p:nvPr/>
        </p:nvSpPr>
        <p:spPr>
          <a:xfrm>
            <a:off x="939800" y="1816050"/>
            <a:ext cx="6350000" cy="609600"/>
          </a:xfrm>
          <a:prstGeom prst="roundRect">
            <a:avLst>
              <a:gd name="adj" fmla="val 8333"/>
            </a:avLst>
          </a:prstGeom>
          <a:solidFill>
            <a:srgbClr val="16233A"/>
          </a:solidFill>
          <a:ln/>
        </p:spPr>
        <p:txBody>
          <a:bodyPr wrap="square" lIns="0" tIns="0" rIns="0" bIns="0" rtlCol="0" anchor="ctr">
            <a:normAutofit/>
          </a:bodyPr>
          <a:lstStyle/>
          <a:p>
            <a:pPr marL="0" indent="0" algn="ctr">
              <a:lnSpc>
                <a:spcPts val="1960"/>
              </a:lnSpc>
              <a:buNone/>
            </a:pPr>
            <a:r>
              <a:rPr lang="en-US" sz="1400" b="1" dirty="0">
                <a:solidFill>
                  <a:srgbClr val="F6F4EF"/>
                </a:solidFill>
                <a:latin typeface="DM Sans" pitchFamily="34" charset="0"/>
                <a:ea typeface="DM Sans" pitchFamily="34" charset="-122"/>
                <a:cs typeface="DM Sans" pitchFamily="34" charset="-120"/>
              </a:rPr>
              <a:t>5,000 signed up</a:t>
            </a:r>
            <a:endParaRPr lang="en-US" sz="1400" dirty="0"/>
          </a:p>
        </p:txBody>
      </p:sp>
      <p:sp>
        <p:nvSpPr>
          <p:cNvPr id="5" name="Text 3"/>
          <p:cNvSpPr/>
          <p:nvPr/>
        </p:nvSpPr>
        <p:spPr>
          <a:xfrm>
            <a:off x="3067591" y="2501850"/>
            <a:ext cx="2094369"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C6370"/>
                </a:solidFill>
                <a:latin typeface="DM Sans" pitchFamily="34" charset="0"/>
                <a:ea typeface="DM Sans" pitchFamily="34" charset="-122"/>
                <a:cs typeface="DM Sans" pitchFamily="34" charset="-120"/>
              </a:rPr>
              <a:t>84.7% activate their card</a:t>
            </a:r>
            <a:endParaRPr lang="en-US" sz="1200" dirty="0"/>
          </a:p>
        </p:txBody>
      </p:sp>
      <p:sp>
        <p:nvSpPr>
          <p:cNvPr id="6" name="Text 4"/>
          <p:cNvSpPr/>
          <p:nvPr/>
        </p:nvSpPr>
        <p:spPr>
          <a:xfrm>
            <a:off x="1425575" y="2791371"/>
            <a:ext cx="5378450" cy="609600"/>
          </a:xfrm>
          <a:prstGeom prst="roundRect">
            <a:avLst>
              <a:gd name="adj" fmla="val 8333"/>
            </a:avLst>
          </a:prstGeom>
          <a:solidFill>
            <a:srgbClr val="16233A"/>
          </a:solidFill>
          <a:ln/>
        </p:spPr>
        <p:txBody>
          <a:bodyPr wrap="square" lIns="0" tIns="0" rIns="0" bIns="0" rtlCol="0" anchor="ctr">
            <a:normAutofit/>
          </a:bodyPr>
          <a:lstStyle/>
          <a:p>
            <a:pPr marL="0" indent="0" algn="ctr">
              <a:lnSpc>
                <a:spcPts val="1960"/>
              </a:lnSpc>
              <a:buNone/>
            </a:pPr>
            <a:r>
              <a:rPr lang="en-US" sz="1400" b="1" dirty="0">
                <a:solidFill>
                  <a:srgbClr val="F6F4EF"/>
                </a:solidFill>
                <a:latin typeface="DM Sans" pitchFamily="34" charset="0"/>
                <a:ea typeface="DM Sans" pitchFamily="34" charset="-122"/>
                <a:cs typeface="DM Sans" pitchFamily="34" charset="-120"/>
              </a:rPr>
              <a:t>4,236 activated · 84.7%</a:t>
            </a:r>
            <a:endParaRPr lang="en-US" sz="1400" dirty="0"/>
          </a:p>
        </p:txBody>
      </p:sp>
      <p:sp>
        <p:nvSpPr>
          <p:cNvPr id="7" name="Text 5"/>
          <p:cNvSpPr/>
          <p:nvPr/>
        </p:nvSpPr>
        <p:spPr>
          <a:xfrm>
            <a:off x="2700640" y="3477171"/>
            <a:ext cx="282827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C6370"/>
                </a:solidFill>
                <a:latin typeface="DM Sans" pitchFamily="34" charset="0"/>
                <a:ea typeface="DM Sans" pitchFamily="34" charset="-122"/>
                <a:cs typeface="DM Sans" pitchFamily="34" charset="-120"/>
              </a:rPr>
              <a:t>65.1% of activated customers pay</a:t>
            </a:r>
            <a:endParaRPr lang="en-US" sz="1200" dirty="0"/>
          </a:p>
        </p:txBody>
      </p:sp>
      <p:sp>
        <p:nvSpPr>
          <p:cNvPr id="8" name="Text 6"/>
          <p:cNvSpPr/>
          <p:nvPr/>
        </p:nvSpPr>
        <p:spPr>
          <a:xfrm>
            <a:off x="2365375" y="3766691"/>
            <a:ext cx="3498850" cy="609600"/>
          </a:xfrm>
          <a:prstGeom prst="roundRect">
            <a:avLst>
              <a:gd name="adj" fmla="val 8333"/>
            </a:avLst>
          </a:prstGeom>
          <a:solidFill>
            <a:srgbClr val="2F6DB5"/>
          </a:solidFill>
          <a:ln/>
        </p:spPr>
        <p:txBody>
          <a:bodyPr wrap="square" lIns="0" tIns="0" rIns="0" bIns="0" rtlCol="0" anchor="ctr">
            <a:normAutofit/>
          </a:bodyPr>
          <a:lstStyle/>
          <a:p>
            <a:pPr marL="0" indent="0" algn="ctr">
              <a:lnSpc>
                <a:spcPts val="1960"/>
              </a:lnSpc>
              <a:buNone/>
            </a:pPr>
            <a:r>
              <a:rPr lang="en-US" sz="1400" b="1" dirty="0">
                <a:solidFill>
                  <a:srgbClr val="F6F4EF"/>
                </a:solidFill>
                <a:latin typeface="DM Sans" pitchFamily="34" charset="0"/>
                <a:ea typeface="DM Sans" pitchFamily="34" charset="-122"/>
                <a:cs typeface="DM Sans" pitchFamily="34" charset="-120"/>
              </a:rPr>
              <a:t>2,757 paid · 55.1%</a:t>
            </a:r>
            <a:endParaRPr lang="en-US" sz="1400" dirty="0"/>
          </a:p>
        </p:txBody>
      </p:sp>
      <p:sp>
        <p:nvSpPr>
          <p:cNvPr id="9" name="Shape 7"/>
          <p:cNvSpPr/>
          <p:nvPr/>
        </p:nvSpPr>
        <p:spPr>
          <a:xfrm>
            <a:off x="7826375" y="1861195"/>
            <a:ext cx="3549650" cy="2469952"/>
          </a:xfrm>
          <a:prstGeom prst="roundRect">
            <a:avLst>
              <a:gd name="adj" fmla="val 3985"/>
            </a:avLst>
          </a:prstGeom>
          <a:solidFill>
            <a:srgbClr val="FDFCF9"/>
          </a:solidFill>
          <a:ln w="6350">
            <a:solidFill>
              <a:srgbClr val="DDD6C8"/>
            </a:solidFill>
            <a:prstDash val="solid"/>
          </a:ln>
        </p:spPr>
      </p:sp>
      <p:sp>
        <p:nvSpPr>
          <p:cNvPr id="10" name="Text 8"/>
          <p:cNvSpPr/>
          <p:nvPr/>
        </p:nvSpPr>
        <p:spPr>
          <a:xfrm>
            <a:off x="8083550" y="2118370"/>
            <a:ext cx="3126359"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C2551F"/>
                </a:solidFill>
                <a:latin typeface="Domine" pitchFamily="18" charset="0"/>
                <a:ea typeface="Domine" pitchFamily="18" charset="-122"/>
                <a:cs typeface="Domine" pitchFamily="18" charset="-120"/>
              </a:rPr>
              <a:t>34%</a:t>
            </a:r>
            <a:endParaRPr lang="en-US" sz="4400" dirty="0"/>
          </a:p>
        </p:txBody>
      </p:sp>
      <p:sp>
        <p:nvSpPr>
          <p:cNvPr id="11" name="Text 9"/>
          <p:cNvSpPr/>
          <p:nvPr/>
        </p:nvSpPr>
        <p:spPr>
          <a:xfrm>
            <a:off x="8083550" y="2834630"/>
            <a:ext cx="312635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33A"/>
                </a:solidFill>
                <a:latin typeface="DM Sans" pitchFamily="34" charset="0"/>
                <a:ea typeface="DM Sans" pitchFamily="34" charset="-122"/>
                <a:cs typeface="DM Sans" pitchFamily="34" charset="-120"/>
              </a:rPr>
              <a:t>of customers who didn't pay never activated their card (764 of 2,243).</a:t>
            </a:r>
            <a:endParaRPr lang="en-US" sz="1400" dirty="0"/>
          </a:p>
        </p:txBody>
      </p:sp>
      <p:sp>
        <p:nvSpPr>
          <p:cNvPr id="12" name="Text 10"/>
          <p:cNvSpPr/>
          <p:nvPr/>
        </p:nvSpPr>
        <p:spPr>
          <a:xfrm>
            <a:off x="8083550" y="3434011"/>
            <a:ext cx="312635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Activation is its own lever. The behaviour analysis that follows uses the 4,236 activated customers.</a:t>
            </a:r>
            <a:endParaRPr lang="en-US" sz="1200" dirty="0"/>
          </a:p>
        </p:txBody>
      </p:sp>
      <p:sp>
        <p:nvSpPr>
          <p:cNvPr id="13" name="Text 11"/>
          <p:cNvSpPr/>
          <p:nvPr/>
        </p:nvSpPr>
        <p:spPr>
          <a:xfrm>
            <a:off x="812800" y="468109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Data checked with 22 quality rules: clean apart from 4 inconsistent rows, kept and flagged (no effect on results).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DM Sans" pitchFamily="34" charset="0"/>
                <a:ea typeface="DM Sans" pitchFamily="34" charset="-122"/>
                <a:cs typeface="DM Sans" pitchFamily="34" charset="-120"/>
              </a:rPr>
              <a:t>BEHAVIOURS</a:t>
            </a:r>
            <a:endParaRPr lang="en-US" sz="1200" dirty="0"/>
          </a:p>
        </p:txBody>
      </p:sp>
      <p:sp>
        <p:nvSpPr>
          <p:cNvPr id="3" name="Text 1"/>
          <p:cNvSpPr>
            <a:spLocks noGrp="1"/>
          </p:cNvSpPr>
          <p:nvPr>
            <p:ph type="title"/>
          </p:nvPr>
        </p:nvSpPr>
        <p:spPr>
          <a:xfrm>
            <a:off x="812800" y="1102320"/>
            <a:ext cx="10883392" cy="84326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6233A"/>
                </a:solidFill>
                <a:latin typeface="Domine" pitchFamily="18" charset="0"/>
                <a:ea typeface="Domine" pitchFamily="18" charset="-122"/>
                <a:cs typeface="Domine" pitchFamily="18" charset="-120"/>
              </a:rPr>
              <a:t>Allowance and family login matter most; </a:t>
            </a:r>
            <a:br>
              <a:rPr lang="en-US" sz="2800" b="1" i="0" dirty="0">
                <a:solidFill>
                  <a:srgbClr val="16233A"/>
                </a:solidFill>
                <a:latin typeface="Domine" pitchFamily="18" charset="0"/>
                <a:ea typeface="Domine" pitchFamily="18" charset="-122"/>
                <a:cs typeface="Domine" pitchFamily="18" charset="-120"/>
              </a:rPr>
            </a:br>
            <a:r>
              <a:rPr lang="en-US" sz="2800" b="1" i="0" dirty="0">
                <a:solidFill>
                  <a:srgbClr val="16233A"/>
                </a:solidFill>
                <a:latin typeface="Domine" pitchFamily="18" charset="0"/>
                <a:ea typeface="Domine" pitchFamily="18" charset="-122"/>
                <a:cs typeface="Domine" pitchFamily="18" charset="-120"/>
              </a:rPr>
              <a:t>declined payments hurt</a:t>
            </a:r>
            <a:endParaRPr lang="en-US" sz="2800" dirty="0"/>
          </a:p>
        </p:txBody>
      </p:sp>
      <p:sp>
        <p:nvSpPr>
          <p:cNvPr id="4" name="Shape 2"/>
          <p:cNvSpPr/>
          <p:nvPr/>
        </p:nvSpPr>
        <p:spPr>
          <a:xfrm>
            <a:off x="815975" y="2177355"/>
            <a:ext cx="10560050" cy="3105150"/>
          </a:xfrm>
          <a:prstGeom prst="roundRect">
            <a:avLst>
              <a:gd name="adj" fmla="val 3170"/>
            </a:avLst>
          </a:prstGeom>
          <a:solidFill>
            <a:srgbClr val="FFFFFF"/>
          </a:solidFill>
          <a:ln w="6350">
            <a:solidFill>
              <a:srgbClr val="DDD6C8"/>
            </a:solidFill>
            <a:prstDash val="solid"/>
          </a:ln>
        </p:spPr>
      </p:sp>
      <p:sp>
        <p:nvSpPr>
          <p:cNvPr id="7" name="Text 5"/>
          <p:cNvSpPr/>
          <p:nvPr/>
        </p:nvSpPr>
        <p:spPr>
          <a:xfrm>
            <a:off x="812800" y="5539680"/>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Change in the chance of paying the first fee, holding the other behaviours, platform, tier and channel equal (logistic regression, activated customers, n = 4,236). Family login = parent and child both log in. Teal = not statistically significant. </a:t>
            </a:r>
          </a:p>
          <a:p>
            <a:pPr marL="0" indent="0" algn="l">
              <a:lnSpc>
                <a:spcPts val="1680"/>
              </a:lnSpc>
              <a:buNone/>
            </a:pPr>
            <a:endParaRPr lang="en-US" sz="1200" dirty="0"/>
          </a:p>
        </p:txBody>
      </p:sp>
      <p:pic>
        <p:nvPicPr>
          <p:cNvPr id="9" name="Picture 8">
            <a:extLst>
              <a:ext uri="{FF2B5EF4-FFF2-40B4-BE49-F238E27FC236}">
                <a16:creationId xmlns:a16="http://schemas.microsoft.com/office/drawing/2014/main" id="{A549B049-46A4-8A87-B571-685CEA53E80C}"/>
              </a:ext>
            </a:extLst>
          </p:cNvPr>
          <p:cNvPicPr>
            <a:picLocks noChangeAspect="1"/>
          </p:cNvPicPr>
          <p:nvPr/>
        </p:nvPicPr>
        <p:blipFill>
          <a:blip r:embed="rId3"/>
          <a:stretch>
            <a:fillRect/>
          </a:stretch>
        </p:blipFill>
        <p:spPr>
          <a:xfrm>
            <a:off x="1066800" y="2377283"/>
            <a:ext cx="9791700" cy="2887000"/>
          </a:xfrm>
          <a:prstGeom prst="rect">
            <a:avLst/>
          </a:prstGeom>
        </p:spPr>
      </p:pic>
      <p:sp>
        <p:nvSpPr>
          <p:cNvPr id="10" name="Text 27">
            <a:extLst>
              <a:ext uri="{FF2B5EF4-FFF2-40B4-BE49-F238E27FC236}">
                <a16:creationId xmlns:a16="http://schemas.microsoft.com/office/drawing/2014/main" id="{77ED4C2B-B453-C4B6-8495-FFFB78628C7A}"/>
              </a:ext>
            </a:extLst>
          </p:cNvPr>
          <p:cNvSpPr/>
          <p:nvPr/>
        </p:nvSpPr>
        <p:spPr>
          <a:xfrm>
            <a:off x="7280319" y="3924321"/>
            <a:ext cx="216729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370"/>
                </a:solidFill>
                <a:latin typeface="DM Sans" pitchFamily="34" charset="0"/>
                <a:ea typeface="DM Sans" pitchFamily="34" charset="-122"/>
                <a:cs typeface="DM Sans" pitchFamily="34" charset="-120"/>
              </a:rPr>
              <a:t>could be chance</a:t>
            </a:r>
            <a:endParaRPr lang="en-US" sz="1300" dirty="0"/>
          </a:p>
        </p:txBody>
      </p:sp>
      <p:sp>
        <p:nvSpPr>
          <p:cNvPr id="11" name="Text 2">
            <a:extLst>
              <a:ext uri="{FF2B5EF4-FFF2-40B4-BE49-F238E27FC236}">
                <a16:creationId xmlns:a16="http://schemas.microsoft.com/office/drawing/2014/main" id="{DE5ADDEA-21B7-E34C-8566-1A61E876B8F9}"/>
              </a:ext>
            </a:extLst>
          </p:cNvPr>
          <p:cNvSpPr/>
          <p:nvPr/>
        </p:nvSpPr>
        <p:spPr>
          <a:xfrm>
            <a:off x="2914469" y="1906788"/>
            <a:ext cx="27470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370"/>
                </a:solidFill>
                <a:latin typeface="DM Sans" pitchFamily="34" charset="0"/>
                <a:ea typeface="DM Sans" pitchFamily="34" charset="-122"/>
                <a:cs typeface="DM Sans" pitchFamily="34" charset="-120"/>
              </a:rPr>
              <a:t>Less likely to pay</a:t>
            </a:r>
            <a:endParaRPr lang="en-US" sz="1200" dirty="0"/>
          </a:p>
        </p:txBody>
      </p:sp>
      <p:sp>
        <p:nvSpPr>
          <p:cNvPr id="12" name="Text 3">
            <a:extLst>
              <a:ext uri="{FF2B5EF4-FFF2-40B4-BE49-F238E27FC236}">
                <a16:creationId xmlns:a16="http://schemas.microsoft.com/office/drawing/2014/main" id="{F17063B6-63F4-6BD3-D09D-6FB58F5C7BA4}"/>
              </a:ext>
            </a:extLst>
          </p:cNvPr>
          <p:cNvSpPr/>
          <p:nvPr/>
        </p:nvSpPr>
        <p:spPr>
          <a:xfrm>
            <a:off x="6536055" y="1913235"/>
            <a:ext cx="483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More likely to pay</a:t>
            </a:r>
            <a:endParaRPr lang="en-US" sz="1200" dirty="0"/>
          </a:p>
        </p:txBody>
      </p:sp>
      <p:sp>
        <p:nvSpPr>
          <p:cNvPr id="13" name="Text 27">
            <a:extLst>
              <a:ext uri="{FF2B5EF4-FFF2-40B4-BE49-F238E27FC236}">
                <a16:creationId xmlns:a16="http://schemas.microsoft.com/office/drawing/2014/main" id="{465302BF-B844-4DF0-DD9D-10C912E86E60}"/>
              </a:ext>
            </a:extLst>
          </p:cNvPr>
          <p:cNvSpPr/>
          <p:nvPr/>
        </p:nvSpPr>
        <p:spPr>
          <a:xfrm>
            <a:off x="6921091" y="4226402"/>
            <a:ext cx="216729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370"/>
                </a:solidFill>
                <a:latin typeface="DM Sans" pitchFamily="34" charset="0"/>
                <a:ea typeface="DM Sans" pitchFamily="34" charset="-122"/>
                <a:cs typeface="DM Sans" pitchFamily="34" charset="-120"/>
              </a:rPr>
              <a:t>could be chance</a:t>
            </a:r>
            <a:endParaRPr lang="en-US" sz="1300" dirty="0"/>
          </a:p>
        </p:txBody>
      </p:sp>
      <p:sp>
        <p:nvSpPr>
          <p:cNvPr id="14" name="TextBox 13">
            <a:extLst>
              <a:ext uri="{FF2B5EF4-FFF2-40B4-BE49-F238E27FC236}">
                <a16:creationId xmlns:a16="http://schemas.microsoft.com/office/drawing/2014/main" id="{0847AA04-0CBB-E68E-EF8F-45FA067B309A}"/>
              </a:ext>
            </a:extLst>
          </p:cNvPr>
          <p:cNvSpPr txBox="1"/>
          <p:nvPr/>
        </p:nvSpPr>
        <p:spPr>
          <a:xfrm>
            <a:off x="6095975" y="2378454"/>
            <a:ext cx="4250872" cy="261610"/>
          </a:xfrm>
          <a:prstGeom prst="rect">
            <a:avLst/>
          </a:prstGeom>
          <a:noFill/>
        </p:spPr>
        <p:txBody>
          <a:bodyPr wrap="square">
            <a:spAutoFit/>
          </a:bodyPr>
          <a:lstStyle/>
          <a:p>
            <a:r>
              <a:rPr lang="en-GB" sz="1100" b="0" i="0" dirty="0">
                <a:solidFill>
                  <a:srgbClr val="BBBEBF"/>
                </a:solidFill>
                <a:effectLst/>
                <a:latin typeface="-apple-system"/>
              </a:rPr>
              <a:t> </a:t>
            </a:r>
            <a:r>
              <a:rPr lang="en-GB" sz="1100" b="1" i="0" dirty="0">
                <a:solidFill>
                  <a:srgbClr val="BBBEBF"/>
                </a:solidFill>
                <a:effectLst/>
                <a:latin typeface="-apple-system"/>
              </a:rPr>
              <a:t>The</a:t>
            </a:r>
            <a:r>
              <a:rPr lang="en-GB" sz="1100" b="1" dirty="0">
                <a:solidFill>
                  <a:srgbClr val="BBBEBF"/>
                </a:solidFill>
                <a:latin typeface="-apple-system"/>
              </a:rPr>
              <a:t> </a:t>
            </a:r>
            <a:r>
              <a:rPr lang="en-GB" sz="1100" b="1" i="0" dirty="0">
                <a:solidFill>
                  <a:srgbClr val="BBBEBF"/>
                </a:solidFill>
                <a:effectLst/>
                <a:latin typeface="-apple-system"/>
              </a:rPr>
              <a:t>amount</a:t>
            </a:r>
            <a:r>
              <a:rPr lang="en-GB" sz="1100" b="1" dirty="0">
                <a:solidFill>
                  <a:srgbClr val="BBBEBF"/>
                </a:solidFill>
                <a:latin typeface="-apple-system"/>
              </a:rPr>
              <a:t> o</a:t>
            </a:r>
            <a:r>
              <a:rPr lang="en-GB" sz="1100" b="1" i="0" dirty="0">
                <a:solidFill>
                  <a:srgbClr val="BBBEBF"/>
                </a:solidFill>
                <a:effectLst/>
                <a:latin typeface="-apple-system"/>
              </a:rPr>
              <a:t>f allowance doesn't matter, only having one.</a:t>
            </a:r>
            <a:r>
              <a:rPr lang="en-GB" sz="1100" b="0" i="0" dirty="0">
                <a:solidFill>
                  <a:srgbClr val="BBBEBF"/>
                </a:solidFill>
                <a:effectLst/>
                <a:latin typeface="-apple-system"/>
              </a:rPr>
              <a:t> </a:t>
            </a:r>
            <a:endParaRPr lang="en-GB"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DM Sans" pitchFamily="34" charset="0"/>
                <a:ea typeface="DM Sans" pitchFamily="34" charset="-122"/>
                <a:cs typeface="DM Sans" pitchFamily="34" charset="-120"/>
              </a:rPr>
              <a:t>HABITS</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6233A"/>
                </a:solidFill>
                <a:latin typeface="Domine" pitchFamily="18" charset="0"/>
                <a:ea typeface="Domine" pitchFamily="18" charset="-122"/>
                <a:cs typeface="Domine" pitchFamily="18" charset="-120"/>
              </a:rPr>
              <a:t>Families with both habits almost always pay</a:t>
            </a:r>
            <a:endParaRPr lang="en-US" sz="2800" dirty="0"/>
          </a:p>
        </p:txBody>
      </p:sp>
      <p:sp>
        <p:nvSpPr>
          <p:cNvPr id="4" name="Text 2"/>
          <p:cNvSpPr/>
          <p:nvPr/>
        </p:nvSpPr>
        <p:spPr>
          <a:xfrm>
            <a:off x="812800" y="1816050"/>
            <a:ext cx="53893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33A"/>
                </a:solidFill>
                <a:latin typeface="DM Sans" pitchFamily="34" charset="0"/>
                <a:ea typeface="DM Sans" pitchFamily="34" charset="-122"/>
                <a:cs typeface="DM Sans" pitchFamily="34" charset="-120"/>
              </a:rPr>
              <a:t>Fee rate by allowance and family login</a:t>
            </a:r>
            <a:endParaRPr lang="en-US" sz="1400" dirty="0"/>
          </a:p>
        </p:txBody>
      </p:sp>
      <p:sp>
        <p:nvSpPr>
          <p:cNvPr id="5" name="Text 3"/>
          <p:cNvSpPr/>
          <p:nvPr/>
        </p:nvSpPr>
        <p:spPr>
          <a:xfrm>
            <a:off x="877912" y="2254151"/>
            <a:ext cx="1139726"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6233A"/>
                </a:solidFill>
                <a:latin typeface="DM Sans" pitchFamily="34" charset="0"/>
                <a:ea typeface="DM Sans" pitchFamily="34" charset="-122"/>
                <a:cs typeface="DM Sans" pitchFamily="34" charset="-120"/>
              </a:rPr>
              <a:t>Family login</a:t>
            </a:r>
            <a:endParaRPr lang="en-US" sz="1300" dirty="0"/>
          </a:p>
        </p:txBody>
      </p:sp>
      <p:sp>
        <p:nvSpPr>
          <p:cNvPr id="6" name="Text 4"/>
          <p:cNvSpPr/>
          <p:nvPr/>
        </p:nvSpPr>
        <p:spPr>
          <a:xfrm>
            <a:off x="2401530" y="2254151"/>
            <a:ext cx="1419939"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6233A"/>
                </a:solidFill>
                <a:latin typeface="DM Sans" pitchFamily="34" charset="0"/>
                <a:ea typeface="DM Sans" pitchFamily="34" charset="-122"/>
                <a:cs typeface="DM Sans" pitchFamily="34" charset="-120"/>
              </a:rPr>
              <a:t>No family login</a:t>
            </a:r>
            <a:endParaRPr lang="en-US" sz="1300" dirty="0"/>
          </a:p>
        </p:txBody>
      </p:sp>
      <p:sp>
        <p:nvSpPr>
          <p:cNvPr id="7" name="Text 5"/>
          <p:cNvSpPr/>
          <p:nvPr/>
        </p:nvSpPr>
        <p:spPr>
          <a:xfrm>
            <a:off x="4243487" y="3188316"/>
            <a:ext cx="99887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33A"/>
                </a:solidFill>
                <a:latin typeface="DM Sans" pitchFamily="34" charset="0"/>
                <a:ea typeface="DM Sans" pitchFamily="34" charset="-122"/>
                <a:cs typeface="DM Sans" pitchFamily="34" charset="-120"/>
              </a:rPr>
              <a:t>Allowance</a:t>
            </a:r>
            <a:endParaRPr lang="en-US" sz="1300" dirty="0"/>
          </a:p>
        </p:txBody>
      </p:sp>
      <p:sp>
        <p:nvSpPr>
          <p:cNvPr id="8" name="Shape 6"/>
          <p:cNvSpPr/>
          <p:nvPr/>
        </p:nvSpPr>
        <p:spPr>
          <a:xfrm>
            <a:off x="812800" y="2623741"/>
            <a:ext cx="1588730" cy="1270000"/>
          </a:xfrm>
          <a:prstGeom prst="roundRect">
            <a:avLst>
              <a:gd name="adj" fmla="val 6000"/>
            </a:avLst>
          </a:prstGeom>
          <a:solidFill>
            <a:srgbClr val="16233A"/>
          </a:solidFill>
          <a:ln/>
        </p:spPr>
      </p:sp>
      <p:sp>
        <p:nvSpPr>
          <p:cNvPr id="9" name="Text 7"/>
          <p:cNvSpPr/>
          <p:nvPr/>
        </p:nvSpPr>
        <p:spPr>
          <a:xfrm>
            <a:off x="988158" y="2854920"/>
            <a:ext cx="1149993" cy="594320"/>
          </a:xfrm>
          <a:prstGeom prst="rect">
            <a:avLst/>
          </a:prstGeom>
          <a:noFill/>
          <a:ln/>
        </p:spPr>
        <p:txBody>
          <a:bodyPr wrap="square" lIns="0" tIns="0" rIns="0" bIns="0" rtlCol="0" anchor="t">
            <a:normAutofit/>
          </a:bodyPr>
          <a:lstStyle/>
          <a:p>
            <a:pPr marL="0" indent="0" algn="ctr">
              <a:lnSpc>
                <a:spcPts val="4480"/>
              </a:lnSpc>
              <a:buNone/>
            </a:pPr>
            <a:r>
              <a:rPr lang="en-US" sz="3200" b="1" dirty="0">
                <a:solidFill>
                  <a:srgbClr val="F6F4EF"/>
                </a:solidFill>
                <a:latin typeface="Domine" pitchFamily="18" charset="0"/>
                <a:ea typeface="Domine" pitchFamily="18" charset="-122"/>
                <a:cs typeface="Domine" pitchFamily="18" charset="-120"/>
              </a:rPr>
              <a:t>94%</a:t>
            </a:r>
            <a:endParaRPr lang="en-US" sz="3200" dirty="0"/>
          </a:p>
        </p:txBody>
      </p:sp>
      <p:sp>
        <p:nvSpPr>
          <p:cNvPr id="10" name="Text 8"/>
          <p:cNvSpPr/>
          <p:nvPr/>
        </p:nvSpPr>
        <p:spPr>
          <a:xfrm>
            <a:off x="1154906" y="3449241"/>
            <a:ext cx="73280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4EF"/>
                </a:solidFill>
                <a:latin typeface="DM Sans" pitchFamily="34" charset="0"/>
                <a:ea typeface="DM Sans" pitchFamily="34" charset="-122"/>
                <a:cs typeface="DM Sans" pitchFamily="34" charset="-120"/>
              </a:rPr>
              <a:t>n = 419</a:t>
            </a:r>
            <a:endParaRPr lang="en-US" sz="1200" dirty="0"/>
          </a:p>
        </p:txBody>
      </p:sp>
      <p:sp>
        <p:nvSpPr>
          <p:cNvPr id="11" name="Shape 9"/>
          <p:cNvSpPr/>
          <p:nvPr/>
        </p:nvSpPr>
        <p:spPr>
          <a:xfrm>
            <a:off x="2498270" y="2623741"/>
            <a:ext cx="1565729" cy="1270000"/>
          </a:xfrm>
          <a:prstGeom prst="roundRect">
            <a:avLst>
              <a:gd name="adj" fmla="val 6000"/>
            </a:avLst>
          </a:prstGeom>
          <a:solidFill>
            <a:srgbClr val="2F6DB5"/>
          </a:solidFill>
          <a:ln/>
        </p:spPr>
      </p:sp>
      <p:sp>
        <p:nvSpPr>
          <p:cNvPr id="12" name="Text 10"/>
          <p:cNvSpPr/>
          <p:nvPr/>
        </p:nvSpPr>
        <p:spPr>
          <a:xfrm>
            <a:off x="2835662" y="2854920"/>
            <a:ext cx="947124" cy="594320"/>
          </a:xfrm>
          <a:prstGeom prst="rect">
            <a:avLst/>
          </a:prstGeom>
          <a:noFill/>
          <a:ln/>
        </p:spPr>
        <p:txBody>
          <a:bodyPr wrap="square" lIns="0" tIns="0" rIns="0" bIns="0" rtlCol="0" anchor="t">
            <a:normAutofit/>
          </a:bodyPr>
          <a:lstStyle/>
          <a:p>
            <a:pPr marL="0" indent="0" algn="ctr">
              <a:lnSpc>
                <a:spcPts val="4480"/>
              </a:lnSpc>
              <a:buNone/>
            </a:pPr>
            <a:r>
              <a:rPr lang="en-US" sz="3200" b="1" dirty="0">
                <a:solidFill>
                  <a:srgbClr val="F6F4EF"/>
                </a:solidFill>
                <a:latin typeface="Domine" pitchFamily="18" charset="0"/>
                <a:ea typeface="Domine" pitchFamily="18" charset="-122"/>
                <a:cs typeface="Domine" pitchFamily="18" charset="-120"/>
              </a:rPr>
              <a:t>77%</a:t>
            </a:r>
            <a:endParaRPr lang="en-US" sz="3200" dirty="0"/>
          </a:p>
        </p:txBody>
      </p:sp>
      <p:sp>
        <p:nvSpPr>
          <p:cNvPr id="13" name="Text 11"/>
          <p:cNvSpPr/>
          <p:nvPr/>
        </p:nvSpPr>
        <p:spPr>
          <a:xfrm>
            <a:off x="2962877" y="3449241"/>
            <a:ext cx="574036" cy="238720"/>
          </a:xfrm>
          <a:prstGeom prst="rect">
            <a:avLst/>
          </a:prstGeom>
          <a:noFill/>
          <a:ln/>
        </p:spPr>
        <p:txBody>
          <a:bodyPr wrap="square" lIns="0" tIns="0" rIns="0" bIns="0" rtlCol="0" anchor="t">
            <a:normAutofit fontScale="92500"/>
          </a:bodyPr>
          <a:lstStyle/>
          <a:p>
            <a:pPr marL="0" indent="0" algn="ctr">
              <a:lnSpc>
                <a:spcPts val="1680"/>
              </a:lnSpc>
              <a:buNone/>
            </a:pPr>
            <a:r>
              <a:rPr lang="en-US" sz="1200" dirty="0">
                <a:solidFill>
                  <a:srgbClr val="F6F4EF"/>
                </a:solidFill>
                <a:latin typeface="DM Sans" pitchFamily="34" charset="0"/>
                <a:ea typeface="DM Sans" pitchFamily="34" charset="-122"/>
                <a:cs typeface="DM Sans" pitchFamily="34" charset="-120"/>
              </a:rPr>
              <a:t>n = 1,227</a:t>
            </a:r>
            <a:endParaRPr lang="en-US" sz="1200" dirty="0"/>
          </a:p>
        </p:txBody>
      </p:sp>
      <p:sp>
        <p:nvSpPr>
          <p:cNvPr id="14" name="Text 12"/>
          <p:cNvSpPr/>
          <p:nvPr/>
        </p:nvSpPr>
        <p:spPr>
          <a:xfrm>
            <a:off x="4243487" y="4476676"/>
            <a:ext cx="128670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33A"/>
                </a:solidFill>
                <a:latin typeface="DM Sans" pitchFamily="34" charset="0"/>
                <a:ea typeface="DM Sans" pitchFamily="34" charset="-122"/>
                <a:cs typeface="DM Sans" pitchFamily="34" charset="-120"/>
              </a:rPr>
              <a:t>No allowance</a:t>
            </a:r>
            <a:endParaRPr lang="en-US" sz="1300" dirty="0"/>
          </a:p>
        </p:txBody>
      </p:sp>
      <p:sp>
        <p:nvSpPr>
          <p:cNvPr id="15" name="Shape 13"/>
          <p:cNvSpPr/>
          <p:nvPr/>
        </p:nvSpPr>
        <p:spPr>
          <a:xfrm>
            <a:off x="812800" y="3969941"/>
            <a:ext cx="1588730" cy="1270000"/>
          </a:xfrm>
          <a:prstGeom prst="roundRect">
            <a:avLst>
              <a:gd name="adj" fmla="val 6000"/>
            </a:avLst>
          </a:prstGeom>
          <a:solidFill>
            <a:srgbClr val="A9C1DE"/>
          </a:solidFill>
          <a:ln/>
        </p:spPr>
      </p:sp>
      <p:sp>
        <p:nvSpPr>
          <p:cNvPr id="16" name="Text 14"/>
          <p:cNvSpPr/>
          <p:nvPr/>
        </p:nvSpPr>
        <p:spPr>
          <a:xfrm>
            <a:off x="1004233" y="4201120"/>
            <a:ext cx="1109778" cy="594320"/>
          </a:xfrm>
          <a:prstGeom prst="rect">
            <a:avLst/>
          </a:prstGeom>
          <a:noFill/>
          <a:ln/>
        </p:spPr>
        <p:txBody>
          <a:bodyPr wrap="square" lIns="0" tIns="0" rIns="0" bIns="0" rtlCol="0" anchor="t">
            <a:normAutofit/>
          </a:bodyPr>
          <a:lstStyle/>
          <a:p>
            <a:pPr marL="0" indent="0" algn="ctr">
              <a:lnSpc>
                <a:spcPts val="4480"/>
              </a:lnSpc>
              <a:buNone/>
            </a:pPr>
            <a:r>
              <a:rPr lang="en-US" sz="3200" b="1" dirty="0">
                <a:solidFill>
                  <a:srgbClr val="16233A"/>
                </a:solidFill>
                <a:latin typeface="Domine" pitchFamily="18" charset="0"/>
                <a:ea typeface="Domine" pitchFamily="18" charset="-122"/>
                <a:cs typeface="Domine" pitchFamily="18" charset="-120"/>
              </a:rPr>
              <a:t>73%</a:t>
            </a:r>
            <a:endParaRPr lang="en-US" sz="3200" dirty="0"/>
          </a:p>
        </p:txBody>
      </p:sp>
      <p:sp>
        <p:nvSpPr>
          <p:cNvPr id="17" name="Text 15"/>
          <p:cNvSpPr/>
          <p:nvPr/>
        </p:nvSpPr>
        <p:spPr>
          <a:xfrm>
            <a:off x="1157708" y="4795441"/>
            <a:ext cx="72572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33A"/>
                </a:solidFill>
                <a:latin typeface="DM Sans" pitchFamily="34" charset="0"/>
                <a:ea typeface="DM Sans" pitchFamily="34" charset="-122"/>
                <a:cs typeface="DM Sans" pitchFamily="34" charset="-120"/>
              </a:rPr>
              <a:t>n = 612</a:t>
            </a:r>
            <a:endParaRPr lang="en-US" sz="1200" dirty="0"/>
          </a:p>
        </p:txBody>
      </p:sp>
      <p:sp>
        <p:nvSpPr>
          <p:cNvPr id="18" name="Shape 16"/>
          <p:cNvSpPr/>
          <p:nvPr/>
        </p:nvSpPr>
        <p:spPr>
          <a:xfrm>
            <a:off x="2498270" y="3969941"/>
            <a:ext cx="1565730" cy="1270000"/>
          </a:xfrm>
          <a:prstGeom prst="roundRect">
            <a:avLst>
              <a:gd name="adj" fmla="val 6000"/>
            </a:avLst>
          </a:prstGeom>
          <a:solidFill>
            <a:srgbClr val="E4DFD4"/>
          </a:solidFill>
          <a:ln/>
        </p:spPr>
      </p:sp>
      <p:sp>
        <p:nvSpPr>
          <p:cNvPr id="19" name="Text 17"/>
          <p:cNvSpPr/>
          <p:nvPr/>
        </p:nvSpPr>
        <p:spPr>
          <a:xfrm>
            <a:off x="2815577" y="4201120"/>
            <a:ext cx="1076066" cy="594320"/>
          </a:xfrm>
          <a:prstGeom prst="rect">
            <a:avLst/>
          </a:prstGeom>
          <a:noFill/>
          <a:ln/>
        </p:spPr>
        <p:txBody>
          <a:bodyPr wrap="square" lIns="0" tIns="0" rIns="0" bIns="0" rtlCol="0" anchor="t">
            <a:normAutofit/>
          </a:bodyPr>
          <a:lstStyle/>
          <a:p>
            <a:pPr marL="0" indent="0" algn="ctr">
              <a:lnSpc>
                <a:spcPts val="4480"/>
              </a:lnSpc>
              <a:buNone/>
            </a:pPr>
            <a:r>
              <a:rPr lang="en-US" sz="3200" b="1" dirty="0">
                <a:solidFill>
                  <a:srgbClr val="16233A"/>
                </a:solidFill>
                <a:latin typeface="Domine" pitchFamily="18" charset="0"/>
                <a:ea typeface="Domine" pitchFamily="18" charset="-122"/>
                <a:cs typeface="Domine" pitchFamily="18" charset="-120"/>
              </a:rPr>
              <a:t>49%</a:t>
            </a:r>
            <a:endParaRPr lang="en-US" sz="3200" dirty="0"/>
          </a:p>
        </p:txBody>
      </p:sp>
      <p:sp>
        <p:nvSpPr>
          <p:cNvPr id="20" name="Text 18"/>
          <p:cNvSpPr/>
          <p:nvPr/>
        </p:nvSpPr>
        <p:spPr>
          <a:xfrm>
            <a:off x="2964865" y="4795441"/>
            <a:ext cx="582794" cy="238720"/>
          </a:xfrm>
          <a:prstGeom prst="rect">
            <a:avLst/>
          </a:prstGeom>
          <a:noFill/>
          <a:ln/>
        </p:spPr>
        <p:txBody>
          <a:bodyPr wrap="square" lIns="0" tIns="0" rIns="0" bIns="0" rtlCol="0" anchor="t">
            <a:normAutofit fontScale="92500"/>
          </a:bodyPr>
          <a:lstStyle/>
          <a:p>
            <a:pPr marL="0" indent="0" algn="ctr">
              <a:lnSpc>
                <a:spcPts val="1680"/>
              </a:lnSpc>
              <a:buNone/>
            </a:pPr>
            <a:r>
              <a:rPr lang="en-US" sz="1200" dirty="0">
                <a:solidFill>
                  <a:srgbClr val="16233A"/>
                </a:solidFill>
                <a:latin typeface="DM Sans" pitchFamily="34" charset="0"/>
                <a:ea typeface="DM Sans" pitchFamily="34" charset="-122"/>
                <a:cs typeface="DM Sans" pitchFamily="34" charset="-120"/>
              </a:rPr>
              <a:t>n = 1,978</a:t>
            </a:r>
            <a:endParaRPr lang="en-US" sz="1200" dirty="0"/>
          </a:p>
        </p:txBody>
      </p:sp>
      <p:sp>
        <p:nvSpPr>
          <p:cNvPr id="21" name="Text 19"/>
          <p:cNvSpPr/>
          <p:nvPr/>
        </p:nvSpPr>
        <p:spPr>
          <a:xfrm>
            <a:off x="6451600" y="1816050"/>
            <a:ext cx="507542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33A"/>
                </a:solidFill>
                <a:latin typeface="DM Sans" pitchFamily="34" charset="0"/>
                <a:ea typeface="DM Sans" pitchFamily="34" charset="-122"/>
                <a:cs typeface="DM Sans" pitchFamily="34" charset="-120"/>
              </a:rPr>
              <a:t>Fee rate by login days (first 30 days)</a:t>
            </a:r>
            <a:endParaRPr lang="en-US" sz="1400" dirty="0"/>
          </a:p>
        </p:txBody>
      </p:sp>
      <p:sp>
        <p:nvSpPr>
          <p:cNvPr id="22" name="Shape 20"/>
          <p:cNvSpPr/>
          <p:nvPr/>
        </p:nvSpPr>
        <p:spPr>
          <a:xfrm>
            <a:off x="6454775" y="2195116"/>
            <a:ext cx="4921250" cy="3041650"/>
          </a:xfrm>
          <a:prstGeom prst="roundRect">
            <a:avLst>
              <a:gd name="adj" fmla="val 3236"/>
            </a:avLst>
          </a:prstGeom>
          <a:solidFill>
            <a:srgbClr val="FFFFFF"/>
          </a:solidFill>
          <a:ln w="6350">
            <a:solidFill>
              <a:srgbClr val="DDD6C8"/>
            </a:solidFill>
            <a:prstDash val="solid"/>
          </a:ln>
        </p:spPr>
      </p:sp>
      <p:sp>
        <p:nvSpPr>
          <p:cNvPr id="25" name="Text 23"/>
          <p:cNvSpPr/>
          <p:nvPr/>
        </p:nvSpPr>
        <p:spPr>
          <a:xfrm>
            <a:off x="812800" y="5544741"/>
            <a:ext cx="10883392" cy="43433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Activated customers, n = 4,236. The two habits mostly add up rather than multiply.</a:t>
            </a:r>
          </a:p>
          <a:p>
            <a:pPr marL="0" indent="0" algn="l">
              <a:lnSpc>
                <a:spcPts val="1680"/>
              </a:lnSpc>
              <a:buNone/>
            </a:pPr>
            <a:r>
              <a:rPr lang="en-GB" sz="1200" dirty="0">
                <a:solidFill>
                  <a:srgbClr val="5C6370"/>
                </a:solidFill>
                <a:latin typeface="DM Sans" pitchFamily="34" charset="0"/>
                <a:ea typeface="DM Sans" pitchFamily="34" charset="-122"/>
                <a:cs typeface="DM Sans" pitchFamily="34" charset="-120"/>
              </a:rPr>
              <a:t>Login days = the number of different days the parent logged into the app during their first 30 days</a:t>
            </a:r>
            <a:r>
              <a:rPr lang="en-US" sz="1200" dirty="0">
                <a:solidFill>
                  <a:srgbClr val="5C6370"/>
                </a:solidFill>
                <a:latin typeface="DM Sans" pitchFamily="34" charset="0"/>
                <a:ea typeface="DM Sans" pitchFamily="34" charset="-122"/>
                <a:cs typeface="DM Sans" pitchFamily="34" charset="-120"/>
              </a:rPr>
              <a:t>.</a:t>
            </a:r>
          </a:p>
          <a:p>
            <a:pPr marL="0" indent="0" algn="l">
              <a:lnSpc>
                <a:spcPts val="1680"/>
              </a:lnSpc>
              <a:buNone/>
            </a:pPr>
            <a:endParaRPr lang="en-US" sz="1200" dirty="0"/>
          </a:p>
        </p:txBody>
      </p:sp>
      <p:pic>
        <p:nvPicPr>
          <p:cNvPr id="27" name="Picture 26">
            <a:extLst>
              <a:ext uri="{FF2B5EF4-FFF2-40B4-BE49-F238E27FC236}">
                <a16:creationId xmlns:a16="http://schemas.microsoft.com/office/drawing/2014/main" id="{A0D11157-F3FC-A5C7-56E7-2F192D114EF4}"/>
              </a:ext>
            </a:extLst>
          </p:cNvPr>
          <p:cNvPicPr>
            <a:picLocks noChangeAspect="1"/>
          </p:cNvPicPr>
          <p:nvPr/>
        </p:nvPicPr>
        <p:blipFill>
          <a:blip r:embed="rId3"/>
          <a:stretch>
            <a:fillRect/>
          </a:stretch>
        </p:blipFill>
        <p:spPr>
          <a:xfrm>
            <a:off x="6766864" y="2657854"/>
            <a:ext cx="4420903" cy="2046939"/>
          </a:xfrm>
          <a:prstGeom prst="rect">
            <a:avLst/>
          </a:prstGeom>
        </p:spPr>
      </p:pic>
      <p:sp>
        <p:nvSpPr>
          <p:cNvPr id="28" name="Text 23">
            <a:extLst>
              <a:ext uri="{FF2B5EF4-FFF2-40B4-BE49-F238E27FC236}">
                <a16:creationId xmlns:a16="http://schemas.microsoft.com/office/drawing/2014/main" id="{B42E1B98-7289-D27A-C8A0-C21CD9EDFD28}"/>
              </a:ext>
            </a:extLst>
          </p:cNvPr>
          <p:cNvSpPr/>
          <p:nvPr/>
        </p:nvSpPr>
        <p:spPr>
          <a:xfrm>
            <a:off x="7579876" y="2656303"/>
            <a:ext cx="1074735" cy="228222"/>
          </a:xfrm>
          <a:prstGeom prst="rect">
            <a:avLst/>
          </a:prstGeom>
          <a:noFill/>
          <a:ln/>
        </p:spPr>
        <p:txBody>
          <a:bodyPr wrap="square" lIns="0" tIns="0" rIns="0" bIns="0" rtlCol="0" anchor="t">
            <a:normAutofit/>
          </a:bodyPr>
          <a:lstStyle/>
          <a:p>
            <a:pPr marL="0" indent="0" algn="l">
              <a:lnSpc>
                <a:spcPts val="1680"/>
              </a:lnSpc>
              <a:buNone/>
            </a:pPr>
            <a:r>
              <a:rPr lang="en-GB" sz="1000" dirty="0">
                <a:solidFill>
                  <a:srgbClr val="5C6370"/>
                </a:solidFill>
                <a:latin typeface="DM Sans" pitchFamily="34" charset="0"/>
                <a:ea typeface="DM Sans" pitchFamily="34" charset="-122"/>
                <a:cs typeface="DM Sans" pitchFamily="34" charset="-120"/>
              </a:rPr>
              <a:t>Only 46 users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DM Sans" pitchFamily="34" charset="0"/>
                <a:ea typeface="DM Sans" pitchFamily="34" charset="-122"/>
                <a:cs typeface="DM Sans" pitchFamily="34" charset="-120"/>
              </a:rPr>
              <a:t>SEGMENTS</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6233A"/>
                </a:solidFill>
                <a:latin typeface="Domine" pitchFamily="18" charset="0"/>
                <a:ea typeface="Domine" pitchFamily="18" charset="-122"/>
                <a:cs typeface="Domine" pitchFamily="18" charset="-120"/>
              </a:rPr>
              <a:t>Channel and platform matter; plan tier does not</a:t>
            </a:r>
            <a:endParaRPr lang="en-US" sz="2800" dirty="0"/>
          </a:p>
        </p:txBody>
      </p:sp>
      <p:sp>
        <p:nvSpPr>
          <p:cNvPr id="4" name="Text 2"/>
          <p:cNvSpPr/>
          <p:nvPr/>
        </p:nvSpPr>
        <p:spPr>
          <a:xfrm>
            <a:off x="812800" y="1765250"/>
            <a:ext cx="533704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33A"/>
                </a:solidFill>
                <a:latin typeface="DM Sans" pitchFamily="34" charset="0"/>
                <a:ea typeface="DM Sans" pitchFamily="34" charset="-122"/>
                <a:cs typeface="DM Sans" pitchFamily="34" charset="-120"/>
              </a:rPr>
              <a:t>Fee rate by acquisition channel</a:t>
            </a:r>
            <a:endParaRPr lang="en-US" sz="1400" dirty="0"/>
          </a:p>
        </p:txBody>
      </p:sp>
      <p:sp>
        <p:nvSpPr>
          <p:cNvPr id="5" name="Shape 3"/>
          <p:cNvSpPr/>
          <p:nvPr/>
        </p:nvSpPr>
        <p:spPr>
          <a:xfrm>
            <a:off x="815975" y="2093516"/>
            <a:ext cx="5175250" cy="2978150"/>
          </a:xfrm>
          <a:prstGeom prst="roundRect">
            <a:avLst>
              <a:gd name="adj" fmla="val 3305"/>
            </a:avLst>
          </a:prstGeom>
          <a:solidFill>
            <a:srgbClr val="FFFFFF"/>
          </a:solidFill>
          <a:ln w="6350">
            <a:solidFill>
              <a:srgbClr val="DDD6C8"/>
            </a:solidFill>
            <a:prstDash val="solid"/>
          </a:ln>
        </p:spPr>
      </p:sp>
      <p:sp>
        <p:nvSpPr>
          <p:cNvPr id="8" name="Text 6"/>
          <p:cNvSpPr/>
          <p:nvPr/>
        </p:nvSpPr>
        <p:spPr>
          <a:xfrm>
            <a:off x="6197600" y="1765250"/>
            <a:ext cx="5337048" cy="274290"/>
          </a:xfrm>
          <a:prstGeom prst="rect">
            <a:avLst/>
          </a:prstGeom>
          <a:noFill/>
          <a:ln/>
        </p:spPr>
        <p:txBody>
          <a:bodyPr wrap="square" lIns="0" tIns="0" rIns="0" bIns="0" rtlCol="0" anchor="t">
            <a:normAutofit/>
          </a:bodyPr>
          <a:lstStyle/>
          <a:p>
            <a:pPr>
              <a:lnSpc>
                <a:spcPts val="1960"/>
              </a:lnSpc>
            </a:pPr>
            <a:r>
              <a:rPr lang="en-US" sz="1400" b="1" dirty="0">
                <a:solidFill>
                  <a:srgbClr val="16233A"/>
                </a:solidFill>
                <a:latin typeface="DM Sans" pitchFamily="34" charset="0"/>
                <a:ea typeface="DM Sans" pitchFamily="34" charset="-122"/>
                <a:cs typeface="DM Sans" pitchFamily="34" charset="-120"/>
              </a:rPr>
              <a:t>Fee rate by platform</a:t>
            </a:r>
            <a:endParaRPr lang="en-US" sz="1400" dirty="0"/>
          </a:p>
          <a:p>
            <a:pPr marL="0" indent="0" algn="l">
              <a:lnSpc>
                <a:spcPts val="1960"/>
              </a:lnSpc>
              <a:buNone/>
            </a:pPr>
            <a:endParaRPr lang="en-US" sz="1400" dirty="0"/>
          </a:p>
        </p:txBody>
      </p:sp>
      <p:sp>
        <p:nvSpPr>
          <p:cNvPr id="9" name="Shape 7"/>
          <p:cNvSpPr/>
          <p:nvPr/>
        </p:nvSpPr>
        <p:spPr>
          <a:xfrm>
            <a:off x="6200775" y="2093516"/>
            <a:ext cx="5175250" cy="1231900"/>
          </a:xfrm>
          <a:prstGeom prst="roundRect">
            <a:avLst>
              <a:gd name="adj" fmla="val 7990"/>
            </a:avLst>
          </a:prstGeom>
          <a:solidFill>
            <a:srgbClr val="FFFFFF"/>
          </a:solidFill>
          <a:ln w="6350">
            <a:solidFill>
              <a:srgbClr val="DDD6C8"/>
            </a:solidFill>
            <a:prstDash val="solid"/>
          </a:ln>
        </p:spPr>
      </p:sp>
      <p:sp>
        <p:nvSpPr>
          <p:cNvPr id="12" name="Text 10"/>
          <p:cNvSpPr/>
          <p:nvPr/>
        </p:nvSpPr>
        <p:spPr>
          <a:xfrm>
            <a:off x="6197600" y="3404791"/>
            <a:ext cx="533704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33A"/>
                </a:solidFill>
                <a:latin typeface="DM Sans" pitchFamily="34" charset="0"/>
                <a:ea typeface="DM Sans" pitchFamily="34" charset="-122"/>
                <a:cs typeface="DM Sans" pitchFamily="34" charset="-120"/>
              </a:rPr>
              <a:t>Fee rate by plan tier</a:t>
            </a:r>
            <a:endParaRPr lang="en-US" sz="1400" dirty="0"/>
          </a:p>
        </p:txBody>
      </p:sp>
      <p:sp>
        <p:nvSpPr>
          <p:cNvPr id="13" name="Shape 11"/>
          <p:cNvSpPr/>
          <p:nvPr/>
        </p:nvSpPr>
        <p:spPr>
          <a:xfrm>
            <a:off x="6200775" y="3733056"/>
            <a:ext cx="5175250" cy="1231900"/>
          </a:xfrm>
          <a:prstGeom prst="roundRect">
            <a:avLst>
              <a:gd name="adj" fmla="val 7990"/>
            </a:avLst>
          </a:prstGeom>
          <a:solidFill>
            <a:srgbClr val="FFFFFF"/>
          </a:solidFill>
          <a:ln w="6350">
            <a:solidFill>
              <a:srgbClr val="DDD6C8"/>
            </a:solidFill>
            <a:prstDash val="solid"/>
          </a:ln>
        </p:spPr>
      </p:sp>
      <p:sp>
        <p:nvSpPr>
          <p:cNvPr id="16" name="Text 14"/>
          <p:cNvSpPr/>
          <p:nvPr/>
        </p:nvSpPr>
        <p:spPr>
          <a:xfrm>
            <a:off x="812800" y="5328841"/>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Activated customers; average 65%. Channel and platform gaps remain after accounting for behaviour (TikTok −14pp and Referral +8pp vs Organic; Web −8pp vs iOS).</a:t>
            </a:r>
            <a:endParaRPr lang="en-US" sz="1200" dirty="0"/>
          </a:p>
        </p:txBody>
      </p:sp>
      <p:pic>
        <p:nvPicPr>
          <p:cNvPr id="24" name="Picture 23">
            <a:extLst>
              <a:ext uri="{FF2B5EF4-FFF2-40B4-BE49-F238E27FC236}">
                <a16:creationId xmlns:a16="http://schemas.microsoft.com/office/drawing/2014/main" id="{968A385B-E4B2-740B-A9E2-62D832CC8DCF}"/>
              </a:ext>
            </a:extLst>
          </p:cNvPr>
          <p:cNvPicPr>
            <a:picLocks noChangeAspect="1"/>
          </p:cNvPicPr>
          <p:nvPr/>
        </p:nvPicPr>
        <p:blipFill>
          <a:blip r:embed="rId3"/>
          <a:stretch>
            <a:fillRect/>
          </a:stretch>
        </p:blipFill>
        <p:spPr>
          <a:xfrm>
            <a:off x="863665" y="2396720"/>
            <a:ext cx="4943511" cy="2371742"/>
          </a:xfrm>
          <a:prstGeom prst="rect">
            <a:avLst/>
          </a:prstGeom>
        </p:spPr>
      </p:pic>
      <p:pic>
        <p:nvPicPr>
          <p:cNvPr id="26" name="Picture 25">
            <a:extLst>
              <a:ext uri="{FF2B5EF4-FFF2-40B4-BE49-F238E27FC236}">
                <a16:creationId xmlns:a16="http://schemas.microsoft.com/office/drawing/2014/main" id="{D88BE9B3-B012-71E7-DC7B-CEB8262219B8}"/>
              </a:ext>
            </a:extLst>
          </p:cNvPr>
          <p:cNvPicPr>
            <a:picLocks noChangeAspect="1"/>
          </p:cNvPicPr>
          <p:nvPr/>
        </p:nvPicPr>
        <p:blipFill>
          <a:blip r:embed="rId4"/>
          <a:stretch>
            <a:fillRect/>
          </a:stretch>
        </p:blipFill>
        <p:spPr>
          <a:xfrm>
            <a:off x="6376882" y="2296715"/>
            <a:ext cx="4686789" cy="847731"/>
          </a:xfrm>
          <a:prstGeom prst="rect">
            <a:avLst/>
          </a:prstGeom>
        </p:spPr>
      </p:pic>
      <p:sp>
        <p:nvSpPr>
          <p:cNvPr id="28" name="Text 46">
            <a:extLst>
              <a:ext uri="{FF2B5EF4-FFF2-40B4-BE49-F238E27FC236}">
                <a16:creationId xmlns:a16="http://schemas.microsoft.com/office/drawing/2014/main" id="{6292300B-E8E5-37EA-A916-419FEC23775C}"/>
              </a:ext>
            </a:extLst>
          </p:cNvPr>
          <p:cNvSpPr/>
          <p:nvPr/>
        </p:nvSpPr>
        <p:spPr>
          <a:xfrm>
            <a:off x="10056908" y="4969124"/>
            <a:ext cx="20135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no real difference</a:t>
            </a:r>
            <a:endParaRPr lang="en-US" sz="1200" dirty="0"/>
          </a:p>
        </p:txBody>
      </p:sp>
      <p:pic>
        <p:nvPicPr>
          <p:cNvPr id="32" name="Picture 31">
            <a:extLst>
              <a:ext uri="{FF2B5EF4-FFF2-40B4-BE49-F238E27FC236}">
                <a16:creationId xmlns:a16="http://schemas.microsoft.com/office/drawing/2014/main" id="{5E6729E3-0026-C098-5533-DC41A3C537D1}"/>
              </a:ext>
            </a:extLst>
          </p:cNvPr>
          <p:cNvPicPr>
            <a:picLocks noChangeAspect="1"/>
          </p:cNvPicPr>
          <p:nvPr/>
        </p:nvPicPr>
        <p:blipFill>
          <a:blip r:embed="rId5"/>
          <a:stretch>
            <a:fillRect/>
          </a:stretch>
        </p:blipFill>
        <p:spPr>
          <a:xfrm>
            <a:off x="6376882" y="3902668"/>
            <a:ext cx="4686789" cy="8763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8D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DM Sans" pitchFamily="34" charset="0"/>
                <a:ea typeface="DM Sans" pitchFamily="34" charset="-122"/>
                <a:cs typeface="DM Sans" pitchFamily="34" charset="-120"/>
              </a:rPr>
              <a:t>RECOMMENDATIONS</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6233A"/>
                </a:solidFill>
                <a:latin typeface="Domine" pitchFamily="18" charset="0"/>
                <a:ea typeface="Domine" pitchFamily="18" charset="-122"/>
                <a:cs typeface="Domine" pitchFamily="18" charset="-120"/>
              </a:rPr>
              <a:t>Three changes to test</a:t>
            </a:r>
            <a:endParaRPr lang="en-US" sz="2800" dirty="0"/>
          </a:p>
        </p:txBody>
      </p:sp>
      <p:sp>
        <p:nvSpPr>
          <p:cNvPr id="4" name="Shape 2"/>
          <p:cNvSpPr/>
          <p:nvPr/>
        </p:nvSpPr>
        <p:spPr>
          <a:xfrm>
            <a:off x="815975" y="1768425"/>
            <a:ext cx="3380284" cy="3556893"/>
          </a:xfrm>
          <a:prstGeom prst="roundRect">
            <a:avLst>
              <a:gd name="adj" fmla="val 2912"/>
            </a:avLst>
          </a:prstGeom>
          <a:solidFill>
            <a:srgbClr val="FBFAF7"/>
          </a:solidFill>
          <a:ln w="6350">
            <a:solidFill>
              <a:srgbClr val="D6CFC0"/>
            </a:solidFill>
            <a:prstDash val="solid"/>
          </a:ln>
        </p:spPr>
      </p:sp>
      <p:sp>
        <p:nvSpPr>
          <p:cNvPr id="5" name="Text 3"/>
          <p:cNvSpPr/>
          <p:nvPr/>
        </p:nvSpPr>
        <p:spPr>
          <a:xfrm>
            <a:off x="1047750" y="2000200"/>
            <a:ext cx="3004236"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F6DB5"/>
                </a:solidFill>
                <a:latin typeface="DM Sans" pitchFamily="34" charset="0"/>
                <a:ea typeface="DM Sans" pitchFamily="34" charset="-122"/>
                <a:cs typeface="DM Sans" pitchFamily="34" charset="-120"/>
              </a:rPr>
              <a:t>1 · ACTIVATION</a:t>
            </a:r>
            <a:endParaRPr lang="en-US" sz="1200" dirty="0"/>
          </a:p>
        </p:txBody>
      </p:sp>
      <p:sp>
        <p:nvSpPr>
          <p:cNvPr id="6" name="Text 4"/>
          <p:cNvSpPr/>
          <p:nvPr/>
        </p:nvSpPr>
        <p:spPr>
          <a:xfrm>
            <a:off x="1047750" y="2315121"/>
            <a:ext cx="3004236"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3A"/>
                </a:solidFill>
                <a:latin typeface="Domine" pitchFamily="18" charset="0"/>
                <a:ea typeface="Domine" pitchFamily="18" charset="-122"/>
                <a:cs typeface="Domine" pitchFamily="18" charset="-120"/>
              </a:rPr>
              <a:t>Nudge customers to activate their card</a:t>
            </a:r>
            <a:endParaRPr lang="en-US" sz="1600" dirty="0"/>
          </a:p>
        </p:txBody>
      </p:sp>
      <p:sp>
        <p:nvSpPr>
          <p:cNvPr id="7" name="Text 5"/>
          <p:cNvSpPr/>
          <p:nvPr/>
        </p:nvSpPr>
        <p:spPr>
          <a:xfrm>
            <a:off x="1047750" y="2904381"/>
            <a:ext cx="3004236"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756"/>
                </a:solidFill>
                <a:latin typeface="DM Sans" pitchFamily="34" charset="0"/>
                <a:ea typeface="DM Sans" pitchFamily="34" charset="-122"/>
                <a:cs typeface="DM Sans" pitchFamily="34" charset="-120"/>
              </a:rPr>
              <a:t>Why:</a:t>
            </a:r>
            <a:r>
              <a:rPr lang="en-US" sz="1200" dirty="0">
                <a:solidFill>
                  <a:srgbClr val="3D4756"/>
                </a:solidFill>
                <a:latin typeface="DM Sans" pitchFamily="34" charset="0"/>
                <a:ea typeface="DM Sans" pitchFamily="34" charset="-122"/>
                <a:cs typeface="DM Sans" pitchFamily="34" charset="-120"/>
              </a:rPr>
              <a:t> 34% of non-payers never activated, and nobody pays without activating.</a:t>
            </a:r>
            <a:endParaRPr lang="en-US" sz="1200" dirty="0"/>
          </a:p>
        </p:txBody>
      </p:sp>
      <p:sp>
        <p:nvSpPr>
          <p:cNvPr id="8" name="Text 6"/>
          <p:cNvSpPr/>
          <p:nvPr/>
        </p:nvSpPr>
        <p:spPr>
          <a:xfrm>
            <a:off x="1047750" y="3466323"/>
            <a:ext cx="3004236"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756"/>
                </a:solidFill>
                <a:latin typeface="DM Sans" pitchFamily="34" charset="0"/>
                <a:ea typeface="DM Sans" pitchFamily="34" charset="-122"/>
                <a:cs typeface="DM Sans" pitchFamily="34" charset="-120"/>
              </a:rPr>
              <a:t>Test:</a:t>
            </a:r>
            <a:r>
              <a:rPr lang="en-US" sz="1200" dirty="0">
                <a:solidFill>
                  <a:srgbClr val="3D4756"/>
                </a:solidFill>
                <a:latin typeface="DM Sans" pitchFamily="34" charset="0"/>
                <a:ea typeface="DM Sans" pitchFamily="34" charset="-122"/>
                <a:cs typeface="DM Sans" pitchFamily="34" charset="-120"/>
              </a:rPr>
              <a:t> card-arrived reminders and step-by-step activation help in the app.</a:t>
            </a:r>
            <a:endParaRPr lang="en-US" sz="1200" dirty="0"/>
          </a:p>
        </p:txBody>
      </p:sp>
      <p:sp>
        <p:nvSpPr>
          <p:cNvPr id="9" name="Text 7"/>
          <p:cNvSpPr/>
          <p:nvPr/>
        </p:nvSpPr>
        <p:spPr>
          <a:xfrm>
            <a:off x="1047750" y="4000006"/>
            <a:ext cx="300423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6233A"/>
                </a:solidFill>
                <a:latin typeface="Domine" pitchFamily="18" charset="0"/>
                <a:ea typeface="Domine" pitchFamily="18" charset="-122"/>
                <a:cs typeface="Domine" pitchFamily="18" charset="-120"/>
              </a:rPr>
              <a:t>+1.8pp</a:t>
            </a:r>
            <a:endParaRPr lang="en-US" sz="2200" dirty="0"/>
          </a:p>
        </p:txBody>
      </p:sp>
      <p:sp>
        <p:nvSpPr>
          <p:cNvPr id="10" name="Text 8"/>
          <p:cNvSpPr/>
          <p:nvPr/>
        </p:nvSpPr>
        <p:spPr>
          <a:xfrm>
            <a:off x="1047750" y="4492727"/>
            <a:ext cx="300423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of all signups paying (range +1.0 to +3.3pp)</a:t>
            </a:r>
            <a:endParaRPr lang="en-US" sz="1200" dirty="0"/>
          </a:p>
        </p:txBody>
      </p:sp>
      <p:sp>
        <p:nvSpPr>
          <p:cNvPr id="11" name="Shape 9"/>
          <p:cNvSpPr/>
          <p:nvPr/>
        </p:nvSpPr>
        <p:spPr>
          <a:xfrm>
            <a:off x="4405809" y="1768425"/>
            <a:ext cx="3380333" cy="3556893"/>
          </a:xfrm>
          <a:prstGeom prst="roundRect">
            <a:avLst>
              <a:gd name="adj" fmla="val 2912"/>
            </a:avLst>
          </a:prstGeom>
          <a:solidFill>
            <a:srgbClr val="FBFAF7"/>
          </a:solidFill>
          <a:ln w="6350">
            <a:solidFill>
              <a:srgbClr val="D6CFC0"/>
            </a:solidFill>
            <a:prstDash val="solid"/>
          </a:ln>
        </p:spPr>
      </p:sp>
      <p:sp>
        <p:nvSpPr>
          <p:cNvPr id="12" name="Text 10"/>
          <p:cNvSpPr/>
          <p:nvPr/>
        </p:nvSpPr>
        <p:spPr>
          <a:xfrm>
            <a:off x="4637584" y="2000200"/>
            <a:ext cx="3004287"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F6DB5"/>
                </a:solidFill>
                <a:latin typeface="DM Sans" pitchFamily="34" charset="0"/>
                <a:ea typeface="DM Sans" pitchFamily="34" charset="-122"/>
                <a:cs typeface="DM Sans" pitchFamily="34" charset="-120"/>
              </a:rPr>
              <a:t>2 · ONBOARDING</a:t>
            </a:r>
            <a:endParaRPr lang="en-US" sz="1200" dirty="0"/>
          </a:p>
        </p:txBody>
      </p:sp>
      <p:sp>
        <p:nvSpPr>
          <p:cNvPr id="13" name="Text 11"/>
          <p:cNvSpPr/>
          <p:nvPr/>
        </p:nvSpPr>
        <p:spPr>
          <a:xfrm>
            <a:off x="4637584" y="2315121"/>
            <a:ext cx="3064059"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3A"/>
                </a:solidFill>
                <a:latin typeface="Domine" pitchFamily="18" charset="0"/>
                <a:ea typeface="Domine" pitchFamily="18" charset="-122"/>
                <a:cs typeface="Domine" pitchFamily="18" charset="-120"/>
              </a:rPr>
              <a:t>Build allowance and family</a:t>
            </a:r>
            <a:br>
              <a:rPr lang="en-US" sz="1600" b="1" dirty="0">
                <a:solidFill>
                  <a:srgbClr val="16233A"/>
                </a:solidFill>
                <a:latin typeface="Domine" pitchFamily="18" charset="0"/>
                <a:ea typeface="Domine" pitchFamily="18" charset="-122"/>
                <a:cs typeface="Domine" pitchFamily="18" charset="-120"/>
              </a:rPr>
            </a:br>
            <a:r>
              <a:rPr lang="en-US" sz="1600" b="1" dirty="0">
                <a:solidFill>
                  <a:srgbClr val="16233A"/>
                </a:solidFill>
                <a:latin typeface="Domine" pitchFamily="18" charset="0"/>
                <a:ea typeface="Domine" pitchFamily="18" charset="-122"/>
                <a:cs typeface="Domine" pitchFamily="18" charset="-120"/>
              </a:rPr>
              <a:t>login into onboarding</a:t>
            </a:r>
            <a:endParaRPr lang="en-US" sz="1600" dirty="0"/>
          </a:p>
        </p:txBody>
      </p:sp>
      <p:sp>
        <p:nvSpPr>
          <p:cNvPr id="14" name="Text 12"/>
          <p:cNvSpPr/>
          <p:nvPr/>
        </p:nvSpPr>
        <p:spPr>
          <a:xfrm>
            <a:off x="4637584" y="2904381"/>
            <a:ext cx="300428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756"/>
                </a:solidFill>
                <a:latin typeface="DM Sans" pitchFamily="34" charset="0"/>
                <a:ea typeface="DM Sans" pitchFamily="34" charset="-122"/>
                <a:cs typeface="DM Sans" pitchFamily="34" charset="-120"/>
              </a:rPr>
              <a:t>Why:</a:t>
            </a:r>
            <a:r>
              <a:rPr lang="en-US" sz="1200" dirty="0">
                <a:solidFill>
                  <a:srgbClr val="3D4756"/>
                </a:solidFill>
                <a:latin typeface="DM Sans" pitchFamily="34" charset="0"/>
                <a:ea typeface="DM Sans" pitchFamily="34" charset="-122"/>
                <a:cs typeface="DM Sans" pitchFamily="34" charset="-120"/>
              </a:rPr>
              <a:t> the two strongest habits (+25pp, +20pp); 94% pay with both.</a:t>
            </a:r>
            <a:endParaRPr lang="en-US" sz="1200" dirty="0"/>
          </a:p>
        </p:txBody>
      </p:sp>
      <p:sp>
        <p:nvSpPr>
          <p:cNvPr id="15" name="Text 13"/>
          <p:cNvSpPr/>
          <p:nvPr/>
        </p:nvSpPr>
        <p:spPr>
          <a:xfrm>
            <a:off x="4637584" y="3432621"/>
            <a:ext cx="300428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756"/>
                </a:solidFill>
                <a:latin typeface="DM Sans" pitchFamily="34" charset="0"/>
                <a:ea typeface="DM Sans" pitchFamily="34" charset="-122"/>
                <a:cs typeface="DM Sans" pitchFamily="34" charset="-120"/>
              </a:rPr>
              <a:t>Test:</a:t>
            </a:r>
            <a:r>
              <a:rPr lang="en-US" sz="1200" dirty="0">
                <a:solidFill>
                  <a:srgbClr val="3D4756"/>
                </a:solidFill>
                <a:latin typeface="DM Sans" pitchFamily="34" charset="0"/>
                <a:ea typeface="DM Sans" pitchFamily="34" charset="-122"/>
                <a:cs typeface="DM Sans" pitchFamily="34" charset="-120"/>
              </a:rPr>
              <a:t> a pre-filled weekly allowance step and a prompt for the child's first login.</a:t>
            </a:r>
            <a:endParaRPr lang="en-US" sz="1200" dirty="0"/>
          </a:p>
        </p:txBody>
      </p:sp>
      <p:sp>
        <p:nvSpPr>
          <p:cNvPr id="16" name="Text 14"/>
          <p:cNvSpPr/>
          <p:nvPr/>
        </p:nvSpPr>
        <p:spPr>
          <a:xfrm>
            <a:off x="4637584" y="3960862"/>
            <a:ext cx="3004287"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6233A"/>
                </a:solidFill>
                <a:latin typeface="Domine" pitchFamily="18" charset="0"/>
                <a:ea typeface="Domine" pitchFamily="18" charset="-122"/>
                <a:cs typeface="Domine" pitchFamily="18" charset="-120"/>
              </a:rPr>
              <a:t>+1.1pp</a:t>
            </a:r>
            <a:endParaRPr lang="en-US" sz="2200" dirty="0"/>
          </a:p>
        </p:txBody>
      </p:sp>
      <p:sp>
        <p:nvSpPr>
          <p:cNvPr id="17" name="Text 15"/>
          <p:cNvSpPr/>
          <p:nvPr/>
        </p:nvSpPr>
        <p:spPr>
          <a:xfrm>
            <a:off x="4637584" y="4453582"/>
            <a:ext cx="300428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of all signups paying (range +0.3 to +2.4pp)</a:t>
            </a:r>
            <a:endParaRPr lang="en-US" sz="1200" dirty="0"/>
          </a:p>
        </p:txBody>
      </p:sp>
      <p:sp>
        <p:nvSpPr>
          <p:cNvPr id="18" name="Shape 16"/>
          <p:cNvSpPr/>
          <p:nvPr/>
        </p:nvSpPr>
        <p:spPr>
          <a:xfrm>
            <a:off x="7995692" y="1768425"/>
            <a:ext cx="3380333" cy="3556893"/>
          </a:xfrm>
          <a:prstGeom prst="roundRect">
            <a:avLst>
              <a:gd name="adj" fmla="val 2912"/>
            </a:avLst>
          </a:prstGeom>
          <a:solidFill>
            <a:srgbClr val="FBFAF7"/>
          </a:solidFill>
          <a:ln w="6350">
            <a:solidFill>
              <a:srgbClr val="D6CFC0"/>
            </a:solidFill>
            <a:prstDash val="solid"/>
          </a:ln>
        </p:spPr>
      </p:sp>
      <p:sp>
        <p:nvSpPr>
          <p:cNvPr id="19" name="Text 17"/>
          <p:cNvSpPr/>
          <p:nvPr/>
        </p:nvSpPr>
        <p:spPr>
          <a:xfrm>
            <a:off x="8227467" y="2000200"/>
            <a:ext cx="3004287"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F6DB5"/>
                </a:solidFill>
                <a:latin typeface="DM Sans" pitchFamily="34" charset="0"/>
                <a:ea typeface="DM Sans" pitchFamily="34" charset="-122"/>
                <a:cs typeface="DM Sans" pitchFamily="34" charset="-120"/>
              </a:rPr>
              <a:t>3 · DECLINED PAYMENTS</a:t>
            </a:r>
            <a:endParaRPr lang="en-US" sz="1200" dirty="0"/>
          </a:p>
        </p:txBody>
      </p:sp>
      <p:sp>
        <p:nvSpPr>
          <p:cNvPr id="20" name="Text 18"/>
          <p:cNvSpPr/>
          <p:nvPr/>
        </p:nvSpPr>
        <p:spPr>
          <a:xfrm>
            <a:off x="8227467" y="2315121"/>
            <a:ext cx="3004287"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3A"/>
                </a:solidFill>
                <a:latin typeface="Domine" pitchFamily="18" charset="0"/>
                <a:ea typeface="Domine" pitchFamily="18" charset="-122"/>
                <a:cs typeface="Domine" pitchFamily="18" charset="-120"/>
              </a:rPr>
              <a:t>Prompt a top-up after a</a:t>
            </a:r>
            <a:br>
              <a:rPr lang="en-US" sz="1600" b="1" dirty="0">
                <a:solidFill>
                  <a:srgbClr val="16233A"/>
                </a:solidFill>
                <a:latin typeface="Domine" pitchFamily="18" charset="0"/>
                <a:ea typeface="Domine" pitchFamily="18" charset="-122"/>
                <a:cs typeface="Domine" pitchFamily="18" charset="-120"/>
              </a:rPr>
            </a:br>
            <a:r>
              <a:rPr lang="en-US" sz="1600" b="1" dirty="0">
                <a:solidFill>
                  <a:srgbClr val="16233A"/>
                </a:solidFill>
                <a:latin typeface="Domine" pitchFamily="18" charset="0"/>
                <a:ea typeface="Domine" pitchFamily="18" charset="-122"/>
                <a:cs typeface="Domine" pitchFamily="18" charset="-120"/>
              </a:rPr>
              <a:t>declined payment</a:t>
            </a:r>
            <a:endParaRPr lang="en-US" sz="1600" dirty="0"/>
          </a:p>
        </p:txBody>
      </p:sp>
      <p:sp>
        <p:nvSpPr>
          <p:cNvPr id="21" name="Text 19"/>
          <p:cNvSpPr/>
          <p:nvPr/>
        </p:nvSpPr>
        <p:spPr>
          <a:xfrm>
            <a:off x="8227467" y="2904381"/>
            <a:ext cx="300428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756"/>
                </a:solidFill>
                <a:latin typeface="DM Sans" pitchFamily="34" charset="0"/>
                <a:ea typeface="DM Sans" pitchFamily="34" charset="-122"/>
                <a:cs typeface="DM Sans" pitchFamily="34" charset="-120"/>
              </a:rPr>
              <a:t>Why:</a:t>
            </a:r>
            <a:r>
              <a:rPr lang="en-US" sz="1200" dirty="0">
                <a:solidFill>
                  <a:srgbClr val="3D4756"/>
                </a:solidFill>
                <a:latin typeface="DM Sans" pitchFamily="34" charset="0"/>
                <a:ea typeface="DM Sans" pitchFamily="34" charset="-122"/>
                <a:cs typeface="DM Sans" pitchFamily="34" charset="-120"/>
              </a:rPr>
              <a:t> the main warning sign (−12pp); 1 in 5 activated customers has a decline.</a:t>
            </a:r>
            <a:endParaRPr lang="en-US" sz="1200" dirty="0"/>
          </a:p>
        </p:txBody>
      </p:sp>
      <p:sp>
        <p:nvSpPr>
          <p:cNvPr id="22" name="Text 20"/>
          <p:cNvSpPr/>
          <p:nvPr/>
        </p:nvSpPr>
        <p:spPr>
          <a:xfrm>
            <a:off x="8227467" y="3432621"/>
            <a:ext cx="300428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756"/>
                </a:solidFill>
                <a:latin typeface="DM Sans" pitchFamily="34" charset="0"/>
                <a:ea typeface="DM Sans" pitchFamily="34" charset="-122"/>
                <a:cs typeface="DM Sans" pitchFamily="34" charset="-120"/>
              </a:rPr>
              <a:t>Test:</a:t>
            </a:r>
            <a:r>
              <a:rPr lang="en-US" sz="1200" dirty="0">
                <a:solidFill>
                  <a:srgbClr val="3D4756"/>
                </a:solidFill>
                <a:latin typeface="DM Sans" pitchFamily="34" charset="0"/>
                <a:ea typeface="DM Sans" pitchFamily="34" charset="-122"/>
                <a:cs typeface="DM Sans" pitchFamily="34" charset="-120"/>
              </a:rPr>
              <a:t> a real-time alert to the parent with the reason and a one-tap top-up.</a:t>
            </a:r>
            <a:endParaRPr lang="en-US" sz="1200" dirty="0"/>
          </a:p>
        </p:txBody>
      </p:sp>
      <p:sp>
        <p:nvSpPr>
          <p:cNvPr id="23" name="Text 21"/>
          <p:cNvSpPr/>
          <p:nvPr/>
        </p:nvSpPr>
        <p:spPr>
          <a:xfrm>
            <a:off x="8227467" y="3960862"/>
            <a:ext cx="3004287"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6233A"/>
                </a:solidFill>
                <a:latin typeface="Domine" pitchFamily="18" charset="0"/>
                <a:ea typeface="Domine" pitchFamily="18" charset="-122"/>
                <a:cs typeface="Domine" pitchFamily="18" charset="-120"/>
              </a:rPr>
              <a:t>+0.4pp</a:t>
            </a:r>
            <a:endParaRPr lang="en-US" sz="2200" dirty="0"/>
          </a:p>
        </p:txBody>
      </p:sp>
      <p:sp>
        <p:nvSpPr>
          <p:cNvPr id="24" name="Text 22"/>
          <p:cNvSpPr/>
          <p:nvPr/>
        </p:nvSpPr>
        <p:spPr>
          <a:xfrm>
            <a:off x="8227467" y="4453582"/>
            <a:ext cx="300428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of all signups paying (range +0.1 to +0.8pp)</a:t>
            </a:r>
            <a:endParaRPr lang="en-US" sz="1200" dirty="0"/>
          </a:p>
        </p:txBody>
      </p:sp>
      <p:sp>
        <p:nvSpPr>
          <p:cNvPr id="25" name="Text 23"/>
          <p:cNvSpPr/>
          <p:nvPr/>
        </p:nvSpPr>
        <p:spPr>
          <a:xfrm>
            <a:off x="812800" y="558249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Impact = extra first-fee payers as a share of all signups, central scenario. Assumes only part of each link is causal.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DM Sans" pitchFamily="34" charset="0"/>
                <a:ea typeface="DM Sans" pitchFamily="34" charset="-122"/>
                <a:cs typeface="DM Sans" pitchFamily="34" charset="-120"/>
              </a:rPr>
              <a:t>MEASURING SUCCESS</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6233A"/>
                </a:solidFill>
                <a:latin typeface="Domine" pitchFamily="18" charset="0"/>
                <a:ea typeface="Domine" pitchFamily="18" charset="-122"/>
                <a:cs typeface="Domine" pitchFamily="18" charset="-120"/>
              </a:rPr>
              <a:t>Each change runs as an A/B test on first-fee collection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7950"/>
          <a:ext cx="6591300" cy="2489995"/>
        </p:xfrm>
        <a:graphic>
          <a:graphicData uri="http://schemas.openxmlformats.org/drawingml/2006/table">
            <a:tbl>
              <a:tblPr/>
              <a:tblGrid>
                <a:gridCol w="1977390">
                  <a:extLst>
                    <a:ext uri="{9D8B030D-6E8A-4147-A177-3AD203B41FA5}">
                      <a16:colId xmlns:a16="http://schemas.microsoft.com/office/drawing/2014/main" val="20000"/>
                    </a:ext>
                  </a:extLst>
                </a:gridCol>
                <a:gridCol w="4613910">
                  <a:extLst>
                    <a:ext uri="{9D8B030D-6E8A-4147-A177-3AD203B41FA5}">
                      <a16:colId xmlns:a16="http://schemas.microsoft.com/office/drawing/2014/main" val="20001"/>
                    </a:ext>
                  </a:extLst>
                </a:gridCol>
              </a:tblGrid>
              <a:tr h="359321">
                <a:tc>
                  <a:txBody>
                    <a:bodyPr/>
                    <a:lstStyle/>
                    <a:p>
                      <a:pPr marL="0" indent="0">
                        <a:lnSpc>
                          <a:spcPts val="1820"/>
                        </a:lnSpc>
                        <a:buNone/>
                      </a:pPr>
                      <a:r>
                        <a:rPr lang="en-US" sz="1300" b="1" dirty="0">
                          <a:solidFill>
                            <a:srgbClr val="16233A"/>
                          </a:solidFill>
                          <a:latin typeface="DM Sans" pitchFamily="34" charset="0"/>
                          <a:ea typeface="DM Sans" pitchFamily="34" charset="-122"/>
                          <a:cs typeface="DM Sans" pitchFamily="34" charset="-120"/>
                        </a:rPr>
                        <a:t>Element</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820"/>
                        </a:lnSpc>
                        <a:buNone/>
                      </a:pPr>
                      <a:r>
                        <a:rPr lang="en-US" sz="1300" b="1" dirty="0">
                          <a:solidFill>
                            <a:srgbClr val="16233A"/>
                          </a:solidFill>
                          <a:latin typeface="DM Sans" pitchFamily="34" charset="0"/>
                          <a:ea typeface="DM Sans" pitchFamily="34" charset="-122"/>
                          <a:cs typeface="DM Sans" pitchFamily="34" charset="-120"/>
                        </a:rPr>
                        <a:t>What we measure</a:t>
                      </a:r>
                      <a:endParaRPr lang="en-US" sz="1300" dirty="0">
                        <a:latin typeface="DM Sans" charset="0"/>
                        <a:ea typeface="DM Sans" charset="0"/>
                        <a:cs typeface="DM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6233A"/>
                          </a:solidFill>
                          <a:latin typeface="DM Sans" pitchFamily="34" charset="0"/>
                          <a:ea typeface="DM Sans" pitchFamily="34" charset="-122"/>
                          <a:cs typeface="DM Sans" pitchFamily="34" charset="-120"/>
                        </a:rPr>
                        <a:t>Primary metric</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6233A"/>
                          </a:solidFill>
                          <a:latin typeface="DM Sans" pitchFamily="34" charset="0"/>
                          <a:ea typeface="DM Sans" pitchFamily="34" charset="-122"/>
                          <a:cs typeface="DM Sans" pitchFamily="34" charset="-120"/>
                        </a:rPr>
                        <a:t>Share of all signups who pay their first fee (55% today)</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590451">
                <a:tc>
                  <a:txBody>
                    <a:bodyPr/>
                    <a:lstStyle/>
                    <a:p>
                      <a:pPr marL="0" indent="0">
                        <a:lnSpc>
                          <a:spcPts val="1820"/>
                        </a:lnSpc>
                        <a:buNone/>
                      </a:pPr>
                      <a:r>
                        <a:rPr lang="en-US" sz="1300" dirty="0">
                          <a:solidFill>
                            <a:srgbClr val="16233A"/>
                          </a:solidFill>
                          <a:latin typeface="DM Sans" pitchFamily="34" charset="0"/>
                          <a:ea typeface="DM Sans" pitchFamily="34" charset="-122"/>
                          <a:cs typeface="DM Sans" pitchFamily="34" charset="-120"/>
                        </a:rPr>
                        <a:t>Leading signals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6233A"/>
                          </a:solidFill>
                          <a:latin typeface="DM Sans" pitchFamily="34" charset="0"/>
                          <a:ea typeface="DM Sans" pitchFamily="34" charset="-122"/>
                          <a:cs typeface="DM Sans" pitchFamily="34" charset="-120"/>
                        </a:rPr>
                        <a:t>Activation within 14 days · allowance set up within 7 days · top-up within 24h of a decline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590451">
                <a:tc>
                  <a:txBody>
                    <a:bodyPr/>
                    <a:lstStyle/>
                    <a:p>
                      <a:pPr marL="0" indent="0">
                        <a:lnSpc>
                          <a:spcPts val="1820"/>
                        </a:lnSpc>
                        <a:buNone/>
                      </a:pPr>
                      <a:r>
                        <a:rPr lang="en-US" sz="1300" dirty="0">
                          <a:solidFill>
                            <a:srgbClr val="16233A"/>
                          </a:solidFill>
                          <a:latin typeface="DM Sans" pitchFamily="34" charset="0"/>
                          <a:ea typeface="DM Sans" pitchFamily="34" charset="-122"/>
                          <a:cs typeface="DM Sans" pitchFamily="34" charset="-120"/>
                        </a:rPr>
                        <a:t>Guardrails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6233A"/>
                          </a:solidFill>
                          <a:latin typeface="DM Sans" pitchFamily="34" charset="0"/>
                          <a:ea typeface="DM Sans" pitchFamily="34" charset="-122"/>
                          <a:cs typeface="DM Sans" pitchFamily="34" charset="-120"/>
                        </a:rPr>
                        <a:t>Time to activate · support contacts · cancellations · second-month fee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590451">
                <a:tc>
                  <a:txBody>
                    <a:bodyPr/>
                    <a:lstStyle/>
                    <a:p>
                      <a:pPr marL="0" indent="0">
                        <a:lnSpc>
                          <a:spcPts val="1820"/>
                        </a:lnSpc>
                        <a:buNone/>
                      </a:pPr>
                      <a:r>
                        <a:rPr lang="en-US" sz="1300" dirty="0">
                          <a:solidFill>
                            <a:srgbClr val="16233A"/>
                          </a:solidFill>
                          <a:latin typeface="DM Sans" pitchFamily="34" charset="0"/>
                          <a:ea typeface="DM Sans" pitchFamily="34" charset="-122"/>
                          <a:cs typeface="DM Sans" pitchFamily="34" charset="-120"/>
                        </a:rPr>
                        <a:t>Design</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6233A"/>
                          </a:solidFill>
                          <a:latin typeface="DM Sans" pitchFamily="34" charset="0"/>
                          <a:ea typeface="DM Sans" pitchFamily="34" charset="-122"/>
                          <a:cs typeface="DM Sans" pitchFamily="34" charset="-120"/>
                        </a:rPr>
                        <a:t>New signups split 50/50 at random; success rule agreed before launch</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724775" y="1768425"/>
            <a:ext cx="3651250" cy="2496344"/>
          </a:xfrm>
          <a:prstGeom prst="roundRect">
            <a:avLst>
              <a:gd name="adj" fmla="val 3943"/>
            </a:avLst>
          </a:prstGeom>
          <a:solidFill>
            <a:srgbClr val="FDFCF9"/>
          </a:solidFill>
          <a:ln w="6350">
            <a:solidFill>
              <a:srgbClr val="DDD6C8"/>
            </a:solidFill>
            <a:prstDash val="solid"/>
          </a:ln>
        </p:spPr>
      </p:sp>
      <p:sp>
        <p:nvSpPr>
          <p:cNvPr id="6" name="Text 3"/>
          <p:cNvSpPr/>
          <p:nvPr/>
        </p:nvSpPr>
        <p:spPr>
          <a:xfrm>
            <a:off x="7981950" y="2025600"/>
            <a:ext cx="3231007"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33A"/>
                </a:solidFill>
                <a:latin typeface="DM Sans" pitchFamily="34" charset="0"/>
                <a:ea typeface="DM Sans" pitchFamily="34" charset="-122"/>
                <a:cs typeface="DM Sans" pitchFamily="34" charset="-120"/>
              </a:rPr>
              <a:t>Customers needed per group</a:t>
            </a:r>
            <a:endParaRPr lang="en-US" sz="1400" dirty="0"/>
          </a:p>
        </p:txBody>
      </p:sp>
      <p:sp>
        <p:nvSpPr>
          <p:cNvPr id="7" name="Text 4"/>
          <p:cNvSpPr/>
          <p:nvPr/>
        </p:nvSpPr>
        <p:spPr>
          <a:xfrm>
            <a:off x="7981950" y="2438301"/>
            <a:ext cx="139636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DM Sans" pitchFamily="34" charset="0"/>
                <a:ea typeface="DM Sans" pitchFamily="34" charset="-122"/>
                <a:cs typeface="DM Sans" pitchFamily="34" charset="-120"/>
              </a:rPr>
              <a:t>To detect +2pp</a:t>
            </a:r>
            <a:endParaRPr lang="en-US" sz="1300" dirty="0"/>
          </a:p>
        </p:txBody>
      </p:sp>
      <p:sp>
        <p:nvSpPr>
          <p:cNvPr id="8" name="Text 5"/>
          <p:cNvSpPr/>
          <p:nvPr/>
        </p:nvSpPr>
        <p:spPr>
          <a:xfrm>
            <a:off x="10289758" y="2376091"/>
            <a:ext cx="829092" cy="381000"/>
          </a:xfrm>
          <a:prstGeom prst="rect">
            <a:avLst/>
          </a:prstGeom>
          <a:noFill/>
          <a:ln/>
        </p:spPr>
        <p:txBody>
          <a:bodyPr wrap="square" lIns="0" tIns="0" rIns="0" bIns="0" rtlCol="0" anchor="t">
            <a:normAutofit/>
          </a:bodyPr>
          <a:lstStyle/>
          <a:p>
            <a:pPr marL="0" indent="0" algn="r">
              <a:lnSpc>
                <a:spcPts val="2800"/>
              </a:lnSpc>
              <a:buNone/>
            </a:pPr>
            <a:r>
              <a:rPr lang="en-US" sz="2000" b="1" dirty="0">
                <a:solidFill>
                  <a:srgbClr val="16233A"/>
                </a:solidFill>
                <a:latin typeface="Domine" pitchFamily="18" charset="0"/>
                <a:ea typeface="Domine" pitchFamily="18" charset="-122"/>
                <a:cs typeface="Domine" pitchFamily="18" charset="-120"/>
              </a:rPr>
              <a:t>9,700</a:t>
            </a:r>
            <a:endParaRPr lang="en-US" sz="2000" dirty="0"/>
          </a:p>
        </p:txBody>
      </p:sp>
      <p:sp>
        <p:nvSpPr>
          <p:cNvPr id="9" name="Text 6"/>
          <p:cNvSpPr/>
          <p:nvPr/>
        </p:nvSpPr>
        <p:spPr>
          <a:xfrm>
            <a:off x="7981950" y="2895501"/>
            <a:ext cx="139934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DM Sans" pitchFamily="34" charset="0"/>
                <a:ea typeface="DM Sans" pitchFamily="34" charset="-122"/>
                <a:cs typeface="DM Sans" pitchFamily="34" charset="-120"/>
              </a:rPr>
              <a:t>To detect +3pp</a:t>
            </a:r>
            <a:endParaRPr lang="en-US" sz="1300" dirty="0"/>
          </a:p>
        </p:txBody>
      </p:sp>
      <p:sp>
        <p:nvSpPr>
          <p:cNvPr id="10" name="Text 7"/>
          <p:cNvSpPr/>
          <p:nvPr/>
        </p:nvSpPr>
        <p:spPr>
          <a:xfrm>
            <a:off x="10269934" y="2833291"/>
            <a:ext cx="848916" cy="381000"/>
          </a:xfrm>
          <a:prstGeom prst="rect">
            <a:avLst/>
          </a:prstGeom>
          <a:noFill/>
          <a:ln/>
        </p:spPr>
        <p:txBody>
          <a:bodyPr wrap="square" lIns="0" tIns="0" rIns="0" bIns="0" rtlCol="0" anchor="t">
            <a:normAutofit/>
          </a:bodyPr>
          <a:lstStyle/>
          <a:p>
            <a:pPr marL="0" indent="0" algn="r">
              <a:lnSpc>
                <a:spcPts val="2800"/>
              </a:lnSpc>
              <a:buNone/>
            </a:pPr>
            <a:r>
              <a:rPr lang="en-US" sz="2000" b="1" dirty="0">
                <a:solidFill>
                  <a:srgbClr val="16233A"/>
                </a:solidFill>
                <a:latin typeface="Domine" pitchFamily="18" charset="0"/>
                <a:ea typeface="Domine" pitchFamily="18" charset="-122"/>
                <a:cs typeface="Domine" pitchFamily="18" charset="-120"/>
              </a:rPr>
              <a:t>4,300</a:t>
            </a:r>
            <a:endParaRPr lang="en-US" sz="2000" dirty="0"/>
          </a:p>
        </p:txBody>
      </p:sp>
      <p:sp>
        <p:nvSpPr>
          <p:cNvPr id="11" name="Text 8"/>
          <p:cNvSpPr/>
          <p:nvPr/>
        </p:nvSpPr>
        <p:spPr>
          <a:xfrm>
            <a:off x="7981950" y="3352701"/>
            <a:ext cx="14030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756"/>
                </a:solidFill>
                <a:latin typeface="DM Sans" pitchFamily="34" charset="0"/>
                <a:ea typeface="DM Sans" pitchFamily="34" charset="-122"/>
                <a:cs typeface="DM Sans" pitchFamily="34" charset="-120"/>
              </a:rPr>
              <a:t>To detect +5pp</a:t>
            </a:r>
            <a:endParaRPr lang="en-US" sz="1300" dirty="0"/>
          </a:p>
        </p:txBody>
      </p:sp>
      <p:sp>
        <p:nvSpPr>
          <p:cNvPr id="12" name="Text 9"/>
          <p:cNvSpPr/>
          <p:nvPr/>
        </p:nvSpPr>
        <p:spPr>
          <a:xfrm>
            <a:off x="10325120" y="3290491"/>
            <a:ext cx="793730" cy="381000"/>
          </a:xfrm>
          <a:prstGeom prst="rect">
            <a:avLst/>
          </a:prstGeom>
          <a:noFill/>
          <a:ln/>
        </p:spPr>
        <p:txBody>
          <a:bodyPr wrap="square" lIns="0" tIns="0" rIns="0" bIns="0" rtlCol="0" anchor="t">
            <a:normAutofit/>
          </a:bodyPr>
          <a:lstStyle/>
          <a:p>
            <a:pPr marL="0" indent="0" algn="r">
              <a:lnSpc>
                <a:spcPts val="2800"/>
              </a:lnSpc>
              <a:buNone/>
            </a:pPr>
            <a:r>
              <a:rPr lang="en-US" sz="2000" b="1" dirty="0">
                <a:solidFill>
                  <a:srgbClr val="16233A"/>
                </a:solidFill>
                <a:latin typeface="Domine" pitchFamily="18" charset="0"/>
                <a:ea typeface="Domine" pitchFamily="18" charset="-122"/>
                <a:cs typeface="Domine" pitchFamily="18" charset="-120"/>
              </a:rPr>
              <a:t>1,500</a:t>
            </a:r>
            <a:endParaRPr lang="en-US" sz="2000" dirty="0"/>
          </a:p>
        </p:txBody>
      </p:sp>
      <p:sp>
        <p:nvSpPr>
          <p:cNvPr id="13" name="Text 10"/>
          <p:cNvSpPr/>
          <p:nvPr/>
        </p:nvSpPr>
        <p:spPr>
          <a:xfrm>
            <a:off x="7981950" y="3747691"/>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370"/>
                </a:solidFill>
                <a:latin typeface="DM Sans" pitchFamily="34" charset="0"/>
                <a:ea typeface="DM Sans" pitchFamily="34" charset="-122"/>
                <a:cs typeface="DM Sans" pitchFamily="34" charset="-120"/>
              </a:rPr>
              <a:t>Baseline 55%, 95% confidence, 80% power.</a:t>
            </a:r>
            <a:endParaRPr lang="en-US" sz="1200" dirty="0"/>
          </a:p>
        </p:txBody>
      </p:sp>
      <p:sp>
        <p:nvSpPr>
          <p:cNvPr id="14" name="Text 11"/>
          <p:cNvSpPr/>
          <p:nvPr/>
        </p:nvSpPr>
        <p:spPr>
          <a:xfrm>
            <a:off x="812800" y="4521944"/>
            <a:ext cx="1088339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C6370"/>
                </a:solidFill>
                <a:latin typeface="DM Sans" pitchFamily="34" charset="0"/>
                <a:ea typeface="DM Sans" pitchFamily="34" charset="-122"/>
                <a:cs typeface="DM Sans" pitchFamily="34" charset="-120"/>
              </a:rPr>
              <a:t>Caveats:</a:t>
            </a:r>
            <a:r>
              <a:rPr lang="en-US" sz="1200" dirty="0">
                <a:solidFill>
                  <a:srgbClr val="5C6370"/>
                </a:solidFill>
                <a:latin typeface="DM Sans" pitchFamily="34" charset="0"/>
                <a:ea typeface="DM Sans" pitchFamily="34" charset="-122"/>
                <a:cs typeface="DM Sans" pitchFamily="34" charset="-120"/>
              </a:rPr>
              <a:t> associations, not proven causes · fee timing and reasons for failed fees to confirm · dummy data. </a:t>
            </a:r>
            <a:r>
              <a:rPr lang="en-US" sz="1200" b="1" dirty="0">
                <a:solidFill>
                  <a:srgbClr val="5C6370"/>
                </a:solidFill>
                <a:latin typeface="DM Sans" pitchFamily="34" charset="0"/>
                <a:ea typeface="DM Sans" pitchFamily="34" charset="-122"/>
                <a:cs typeface="DM Sans" pitchFamily="34" charset="-120"/>
              </a:rPr>
              <a:t>Next:</a:t>
            </a:r>
            <a:r>
              <a:rPr lang="en-US" sz="1200" dirty="0">
                <a:solidFill>
                  <a:srgbClr val="5C6370"/>
                </a:solidFill>
                <a:latin typeface="DM Sans" pitchFamily="34" charset="0"/>
                <a:ea typeface="DM Sans" pitchFamily="34" charset="-122"/>
                <a:cs typeface="DM Sans" pitchFamily="34" charset="-120"/>
              </a:rPr>
              <a:t> an early-warning score at day 7 to target these interventions.</a:t>
            </a:r>
            <a:endParaRPr lang="en-US" sz="1200" dirty="0"/>
          </a:p>
        </p:txBody>
      </p:sp>
    </p:spTree>
  </p:cSld>
  <p:clrMapOvr>
    <a:masterClrMapping/>
  </p:clrMapOvr>
</p:sld>
</file>

<file path=ppt/theme/theme1.xml><?xml version="1.0" encoding="utf-8"?>
<a:theme xmlns:a="http://schemas.openxmlformats.org/drawingml/2006/main" name="First Fee Driver Deck">
  <a:themeElements>
    <a:clrScheme name="First Fee Driver Deck">
      <a:dk1>
        <a:srgbClr val="16233A"/>
      </a:dk1>
      <a:lt1>
        <a:srgbClr val="F6F4EF"/>
      </a:lt1>
      <a:dk2>
        <a:srgbClr val="4E5767"/>
      </a:dk2>
      <a:lt2>
        <a:srgbClr val="E0DFDD"/>
      </a:lt2>
      <a:accent1>
        <a:srgbClr val="2F6DB5"/>
      </a:accent1>
      <a:accent2>
        <a:srgbClr val="A9C1DE"/>
      </a:accent2>
      <a:accent3>
        <a:srgbClr val="8FB3E0"/>
      </a:accent3>
      <a:accent4>
        <a:srgbClr val="C2551F"/>
      </a:accent4>
      <a:accent5>
        <a:srgbClr val="5C6370"/>
      </a:accent5>
      <a:accent6>
        <a:srgbClr val="3D4756"/>
      </a:accent6>
      <a:hlink>
        <a:srgbClr val="0563C1"/>
      </a:hlink>
      <a:folHlink>
        <a:srgbClr val="954F72"/>
      </a:folHlink>
    </a:clrScheme>
    <a:fontScheme name="First Fee Driver Deck">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1015</TotalTime>
  <Words>1731</Words>
  <Application>Microsoft Office PowerPoint</Application>
  <PresentationFormat>Widescreen</PresentationFormat>
  <Paragraphs>119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-apple-system</vt:lpstr>
      <vt:lpstr>Arial</vt:lpstr>
      <vt:lpstr>DM Sans</vt:lpstr>
      <vt:lpstr>Domine</vt:lpstr>
      <vt:lpstr>First Fee Driver Deck</vt:lpstr>
      <vt:lpstr>What predicts a customer paying their first monthly fee?</vt:lpstr>
      <vt:lpstr>Activation, allowance and family login drive first-fee collection</vt:lpstr>
      <vt:lpstr>15% never activate their card, and none of them pay</vt:lpstr>
      <vt:lpstr>Allowance and family login matter most;  declined payments hurt</vt:lpstr>
      <vt:lpstr>Families with both habits almost always pay</vt:lpstr>
      <vt:lpstr>Channel and platform matter; plan tier does not</vt:lpstr>
      <vt:lpstr>Three changes to test</vt:lpstr>
      <vt:lpstr>Each change runs as an A/B test on first-fee collection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Fee Driver Deck</dc:title>
  <dc:subject/>
  <dc:creator>Damian Adamski</dc:creator>
  <cp:lastModifiedBy>Damian Adamski</cp:lastModifiedBy>
  <cp:revision>2</cp:revision>
  <dcterms:created xsi:type="dcterms:W3CDTF">2026-10-08T15:29:49Z</dcterms:created>
  <dcterms:modified xsi:type="dcterms:W3CDTF">2026-10-09T08:30:52Z</dcterms:modified>
</cp:coreProperties>
</file>